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72" r:id="rId6"/>
    <p:sldMasterId id="2147483684" r:id="rId7"/>
    <p:sldMasterId id="2147483696" r:id="rId8"/>
  </p:sldMasterIdLst>
  <p:notesMasterIdLst>
    <p:notesMasterId r:id="rId25"/>
  </p:notesMasterIdLst>
  <p:sldIdLst>
    <p:sldId id="268" r:id="rId9"/>
    <p:sldId id="269" r:id="rId10"/>
    <p:sldId id="259" r:id="rId11"/>
    <p:sldId id="258" r:id="rId12"/>
    <p:sldId id="283" r:id="rId13"/>
    <p:sldId id="282" r:id="rId14"/>
    <p:sldId id="270" r:id="rId15"/>
    <p:sldId id="256" r:id="rId16"/>
    <p:sldId id="271" r:id="rId17"/>
    <p:sldId id="279" r:id="rId18"/>
    <p:sldId id="284" r:id="rId19"/>
    <p:sldId id="276" r:id="rId20"/>
    <p:sldId id="277" r:id="rId21"/>
    <p:sldId id="275" r:id="rId22"/>
    <p:sldId id="280" r:id="rId23"/>
    <p:sldId id="278" r:id="rId24"/>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7" autoAdjust="0"/>
    <p:restoredTop sz="82804"/>
  </p:normalViewPr>
  <p:slideViewPr>
    <p:cSldViewPr snapToGrid="0">
      <p:cViewPr varScale="1">
        <p:scale>
          <a:sx n="103" d="100"/>
          <a:sy n="103" d="100"/>
        </p:scale>
        <p:origin x="60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2014EA-A12C-496F-867B-A3F0145B57B9}" type="datetimeFigureOut">
              <a:rPr lang="en-DE" smtClean="0"/>
              <a:t>7/15/25</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920C9A-1B39-43A3-A2C7-2F183ED40AB7}" type="slidenum">
              <a:rPr lang="en-DE" smtClean="0"/>
              <a:t>‹#›</a:t>
            </a:fld>
            <a:endParaRPr lang="en-DE"/>
          </a:p>
        </p:txBody>
      </p:sp>
    </p:spTree>
    <p:extLst>
      <p:ext uri="{BB962C8B-B14F-4D97-AF65-F5344CB8AC3E}">
        <p14:creationId xmlns:p14="http://schemas.microsoft.com/office/powerpoint/2010/main" val="1460631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1B729-7585-F416-CDCF-EA03DE3A3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4C54F-A7F1-5A21-C25C-4E8162E15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9684B-BD49-E5C5-A237-58DAB276BB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8567C8-B98A-2A82-80FE-8A691262E1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9487E1-6174-4E45-A06C-D6DD11ED588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3310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Combines local details from CNN and global details from </a:t>
            </a:r>
            <a:r>
              <a:rPr lang="en-US" dirty="0" err="1"/>
              <a:t>swin</a:t>
            </a:r>
            <a:r>
              <a:rPr lang="en-US" dirty="0"/>
              <a:t> Transformers</a:t>
            </a:r>
          </a:p>
          <a:p>
            <a:endParaRPr lang="en-US" dirty="0"/>
          </a:p>
          <a:p>
            <a:r>
              <a:rPr lang="en-US" dirty="0"/>
              <a:t>0.91 </a:t>
            </a:r>
            <a:r>
              <a:rPr lang="en-US" dirty="0" err="1"/>
              <a:t>Unet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9487E1-6174-4E45-A06C-D6DD11ED588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3777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Decoding: Attention + Inception-Res blocks → </a:t>
            </a:r>
            <a:r>
              <a:rPr lang="en-GB" b="1" dirty="0" err="1"/>
              <a:t>upsample</a:t>
            </a:r>
            <a:br>
              <a:rPr lang="en-GB" dirty="0"/>
            </a:br>
            <a:r>
              <a:rPr lang="en-GB" dirty="0"/>
              <a:t>means </a:t>
            </a:r>
          </a:p>
          <a:p>
            <a:r>
              <a:rPr lang="en-GB" dirty="0"/>
              <a:t>“in the decoder stage we apply an attention module, then an Inception-Res block to refine features, and then </a:t>
            </a:r>
            <a:r>
              <a:rPr lang="en-GB" dirty="0" err="1"/>
              <a:t>upsample</a:t>
            </a:r>
            <a:r>
              <a:rPr lang="en-GB" dirty="0"/>
              <a:t> the result—repeating as needed until we reach full resolution.”</a:t>
            </a:r>
          </a:p>
          <a:p>
            <a:endParaRPr lang="en-GB" dirty="0"/>
          </a:p>
          <a:p>
            <a:r>
              <a:rPr lang="en-GB" dirty="0"/>
              <a:t>We don’t save the side outputs </a:t>
            </a:r>
            <a:endParaRPr lang="en-D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B054EE-BF0B-43D1-AB69-D1A0FA7D595E}" type="slidenum">
              <a:rPr kumimoji="0" lang="en-D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D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0220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Stages are for the depth of features</a:t>
            </a:r>
          </a:p>
          <a:p>
            <a:r>
              <a:rPr lang="en-US" dirty="0" err="1"/>
              <a:t>EfficientNet</a:t>
            </a:r>
            <a:r>
              <a:rPr lang="en-US" dirty="0"/>
              <a:t> are great at spotting local edges and textures, but their “view” is too narrow—they miss global context </a:t>
            </a:r>
          </a:p>
          <a:p>
            <a:r>
              <a:rPr lang="en-US" dirty="0"/>
              <a:t>MDCB3 receives the deepest, most abstract features—these contain the most global context, which is essential for the decoder to "start" reconstructing the segmentation mask.</a:t>
            </a:r>
          </a:p>
          <a:p>
            <a:r>
              <a:rPr lang="en-US" dirty="0"/>
              <a:t>MFAB Multi-Feature Aggregation (MFA): - Aggregates features from different levels (e.g., outputs of MDCB blocks) that may have different spatial </a:t>
            </a:r>
            <a:r>
              <a:rPr lang="en-US" dirty="0" err="1"/>
              <a:t>resolutions.Resizes</a:t>
            </a:r>
            <a:r>
              <a:rPr lang="en-US" dirty="0"/>
              <a:t> (typically </a:t>
            </a:r>
            <a:r>
              <a:rPr lang="en-US" dirty="0" err="1"/>
              <a:t>upsampling</a:t>
            </a:r>
            <a:r>
              <a:rPr lang="en-US" dirty="0"/>
              <a:t>) all feature maps to a common resolution (usually the highest, finest scale).</a:t>
            </a:r>
            <a:endParaRPr lang="en-US" sz="1200" b="1" i="0" u="none" strike="noStrike" kern="1200" dirty="0">
              <a:solidFill>
                <a:schemeClr val="tx1"/>
              </a:solidFill>
              <a:effectLst/>
              <a:latin typeface="+mn-lt"/>
              <a:ea typeface="+mn-ea"/>
              <a:cs typeface="+mn-cs"/>
            </a:endParaRP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MDCB3 receives the deepest, most abstract features so we </a:t>
            </a:r>
            <a:r>
              <a:rPr lang="en-US" sz="1200" b="1" i="0" u="none" strike="noStrike" kern="1200" dirty="0" err="1">
                <a:solidFill>
                  <a:schemeClr val="tx1"/>
                </a:solidFill>
                <a:effectLst/>
                <a:latin typeface="+mn-lt"/>
                <a:ea typeface="+mn-ea"/>
                <a:cs typeface="+mn-cs"/>
              </a:rPr>
              <a:t>upsample</a:t>
            </a:r>
            <a:r>
              <a:rPr lang="en-US" sz="1200" b="1" i="0" u="none" strike="noStrike" kern="1200" dirty="0">
                <a:solidFill>
                  <a:schemeClr val="tx1"/>
                </a:solidFill>
                <a:effectLst/>
                <a:latin typeface="+mn-lt"/>
                <a:ea typeface="+mn-ea"/>
                <a:cs typeface="+mn-cs"/>
              </a:rPr>
              <a:t> </a:t>
            </a:r>
          </a:p>
          <a:p>
            <a:endParaRPr lang="en-US" sz="1200" b="1"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a:t>
            </a:r>
            <a:r>
              <a:rPr lang="en-US" sz="1200" b="1" i="0" u="none" strike="noStrike" kern="1200" dirty="0">
                <a:solidFill>
                  <a:schemeClr val="tx1"/>
                </a:solidFill>
                <a:effectLst/>
                <a:latin typeface="+mn-lt"/>
                <a:ea typeface="+mn-ea"/>
                <a:cs typeface="+mn-cs"/>
              </a:rPr>
              <a:t>final Conv2d layer</a:t>
            </a:r>
            <a:r>
              <a:rPr lang="en-US" sz="1200" b="0" i="0" u="none" strike="noStrike" kern="1200" dirty="0">
                <a:solidFill>
                  <a:schemeClr val="tx1"/>
                </a:solidFill>
                <a:effectLst/>
                <a:latin typeface="+mn-lt"/>
                <a:ea typeface="+mn-ea"/>
                <a:cs typeface="+mn-cs"/>
              </a:rPr>
              <a:t> is typically a 1×1 convolution applied to the feature map output by the MFAB block (or the last decoder block).</a:t>
            </a:r>
          </a:p>
          <a:p>
            <a:r>
              <a:rPr lang="en-US" sz="1200" b="0" i="0" u="none" strike="noStrike" kern="1200" dirty="0">
                <a:solidFill>
                  <a:schemeClr val="tx1"/>
                </a:solidFill>
                <a:effectLst/>
                <a:latin typeface="+mn-lt"/>
                <a:ea typeface="+mn-ea"/>
                <a:cs typeface="+mn-cs"/>
              </a:rPr>
              <a:t>This layer maps the multi-channel feature map (from the network) to the number of output classes required for segmentation.</a:t>
            </a:r>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dirty="0"/>
              <a:t>While only MDCB3's output enters the decoder directly, MDCB1 and MDCB2's outputs are not discarded. Instead, after the decoder </a:t>
            </a:r>
            <a:r>
              <a:rPr lang="en-US" dirty="0" err="1"/>
              <a:t>upsamples</a:t>
            </a:r>
            <a:r>
              <a:rPr lang="en-US" dirty="0"/>
              <a:t> the MDCB3 features, it incorporates features from MDCB1 and MDCB2 (typically through skip connections or aggregation blocks like MFAB).This multi-scale fusion allows the model to combine global context from deep layers (MDCB3) with fine details from shallow layers (MDCB1, MDCB2) for accurate segmentation.</a:t>
            </a:r>
          </a:p>
          <a:p>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B920C9A-1B39-43A3-A2C7-2F183ED40AB7}" type="slidenum">
              <a:rPr lang="en-DE" smtClean="0"/>
              <a:t>6</a:t>
            </a:fld>
            <a:endParaRPr lang="en-DE"/>
          </a:p>
        </p:txBody>
      </p:sp>
    </p:spTree>
    <p:extLst>
      <p:ext uri="{BB962C8B-B14F-4D97-AF65-F5344CB8AC3E}">
        <p14:creationId xmlns:p14="http://schemas.microsoft.com/office/powerpoint/2010/main" val="3189784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err="1"/>
              <a:t>Albumentations</a:t>
            </a:r>
            <a:r>
              <a:rPr lang="en-GB" sz="1200" dirty="0"/>
              <a:t>- a technique that involves artificially expanding the size of a dataset by creating new images through various transformations such as rotation, scaling, flipping, and </a:t>
            </a:r>
            <a:r>
              <a:rPr lang="en-GB" sz="1200" dirty="0" err="1"/>
              <a:t>color</a:t>
            </a:r>
            <a:r>
              <a:rPr lang="en-GB" sz="1200" dirty="0"/>
              <a:t> adjustments.</a:t>
            </a:r>
          </a:p>
          <a:p>
            <a:endParaRPr lang="en-GB" sz="1200" dirty="0"/>
          </a:p>
          <a:p>
            <a:r>
              <a:rPr lang="en-US" sz="1200" b="0" i="0" u="none" strike="noStrike" kern="1200" dirty="0">
                <a:solidFill>
                  <a:schemeClr val="tx1"/>
                </a:solidFill>
                <a:effectLst/>
                <a:latin typeface="+mn-lt"/>
                <a:ea typeface="+mn-ea"/>
                <a:cs typeface="+mn-cs"/>
              </a:rPr>
              <a:t>ConvTranspose2d: It learns convolutional filters that </a:t>
            </a:r>
            <a:r>
              <a:rPr lang="en-US" sz="1200" b="0" i="0" u="none" strike="noStrike" kern="1200" dirty="0" err="1">
                <a:solidFill>
                  <a:schemeClr val="tx1"/>
                </a:solidFill>
                <a:effectLst/>
                <a:latin typeface="+mn-lt"/>
                <a:ea typeface="+mn-ea"/>
                <a:cs typeface="+mn-cs"/>
              </a:rPr>
              <a:t>upsample</a:t>
            </a:r>
            <a:r>
              <a:rPr lang="en-US" sz="1200" b="0" i="0" u="none" strike="noStrike" kern="1200" dirty="0">
                <a:solidFill>
                  <a:schemeClr val="tx1"/>
                </a:solidFill>
                <a:effectLst/>
                <a:latin typeface="+mn-lt"/>
                <a:ea typeface="+mn-ea"/>
                <a:cs typeface="+mn-cs"/>
              </a:rPr>
              <a:t> the input feature map to a higher resolution.</a:t>
            </a:r>
          </a:p>
          <a:p>
            <a:r>
              <a:rPr lang="en-US" sz="1200" b="0" i="0" u="none" strike="noStrike" kern="1200" dirty="0">
                <a:solidFill>
                  <a:schemeClr val="tx1"/>
                </a:solidFill>
                <a:effectLst/>
                <a:latin typeface="+mn-lt"/>
                <a:ea typeface="+mn-ea"/>
                <a:cs typeface="+mn-cs"/>
              </a:rPr>
              <a:t>The filter weights are learned during training, so the network can adapt how it generates details at higher resolutions.</a:t>
            </a:r>
          </a:p>
          <a:p>
            <a:endParaRPr lang="en-US" dirty="0"/>
          </a:p>
          <a:p>
            <a:r>
              <a:rPr lang="en-US" dirty="0"/>
              <a:t>We get better results even with simpler MDC/MFA block</a:t>
            </a:r>
          </a:p>
          <a:p>
            <a:r>
              <a:rPr lang="en-US" sz="1200" b="0" i="0" u="none" strike="noStrike" kern="1200" dirty="0">
                <a:solidFill>
                  <a:schemeClr val="tx1"/>
                </a:solidFill>
                <a:effectLst/>
                <a:latin typeface="+mn-lt"/>
                <a:ea typeface="+mn-ea"/>
                <a:cs typeface="+mn-cs"/>
              </a:rPr>
              <a:t>MDCB uses just parallel dilated convolutions + </a:t>
            </a:r>
            <a:r>
              <a:rPr lang="en-US" sz="1200" b="0" i="0" u="none" strike="noStrike" kern="1200" dirty="0" err="1">
                <a:solidFill>
                  <a:schemeClr val="tx1"/>
                </a:solidFill>
                <a:effectLst/>
                <a:latin typeface="+mn-lt"/>
                <a:ea typeface="+mn-ea"/>
                <a:cs typeface="+mn-cs"/>
              </a:rPr>
              <a:t>concat</a:t>
            </a:r>
            <a:r>
              <a:rPr lang="en-US" sz="1200" b="0" i="0" u="none" strike="noStrike" kern="1200" dirty="0">
                <a:solidFill>
                  <a:schemeClr val="tx1"/>
                </a:solidFill>
                <a:effectLst/>
                <a:latin typeface="+mn-lt"/>
                <a:ea typeface="+mn-ea"/>
                <a:cs typeface="+mn-cs"/>
              </a:rPr>
              <a:t> + 1x1 conv.</a:t>
            </a:r>
          </a:p>
          <a:p>
            <a:r>
              <a:rPr lang="en-US" sz="1200" b="0" i="0" u="none" strike="noStrike" kern="1200" dirty="0">
                <a:solidFill>
                  <a:schemeClr val="tx1"/>
                </a:solidFill>
                <a:effectLst/>
                <a:latin typeface="+mn-lt"/>
                <a:ea typeface="+mn-ea"/>
                <a:cs typeface="+mn-cs"/>
              </a:rPr>
              <a:t>MFAB simply resizes, concatenates, and passes through a 1x1 conv.</a:t>
            </a:r>
          </a:p>
          <a:p>
            <a:endParaRPr lang="en-US" dirty="0"/>
          </a:p>
        </p:txBody>
      </p:sp>
      <p:sp>
        <p:nvSpPr>
          <p:cNvPr id="4" name="Slide Number Placeholder 3"/>
          <p:cNvSpPr>
            <a:spLocks noGrp="1"/>
          </p:cNvSpPr>
          <p:nvPr>
            <p:ph type="sldNum" sz="quarter" idx="5"/>
          </p:nvPr>
        </p:nvSpPr>
        <p:spPr/>
        <p:txBody>
          <a:bodyPr/>
          <a:lstStyle/>
          <a:p>
            <a:fld id="{4B920C9A-1B39-43A3-A2C7-2F183ED40AB7}" type="slidenum">
              <a:rPr lang="en-DE" smtClean="0"/>
              <a:t>7</a:t>
            </a:fld>
            <a:endParaRPr lang="en-DE"/>
          </a:p>
        </p:txBody>
      </p:sp>
    </p:spTree>
    <p:extLst>
      <p:ext uri="{BB962C8B-B14F-4D97-AF65-F5344CB8AC3E}">
        <p14:creationId xmlns:p14="http://schemas.microsoft.com/office/powerpoint/2010/main" val="3858184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Elastic transform introduces natural like changes artificially</a:t>
            </a:r>
          </a:p>
          <a:p>
            <a:r>
              <a:rPr lang="en-US" sz="1200" b="0" i="0" u="none" strike="noStrike" kern="1200" dirty="0">
                <a:solidFill>
                  <a:schemeClr val="tx1"/>
                </a:solidFill>
                <a:effectLst/>
                <a:latin typeface="+mn-lt"/>
                <a:ea typeface="+mn-ea"/>
                <a:cs typeface="+mn-cs"/>
              </a:rPr>
              <a:t>An affine transformation is </a:t>
            </a:r>
            <a:r>
              <a:rPr lang="en-US" dirty="0"/>
              <a:t>a geometric transformation that preserves lines and parallelism but not necessarily distances or angles</a:t>
            </a:r>
          </a:p>
          <a:p>
            <a:endParaRPr lang="en-US" dirty="0"/>
          </a:p>
          <a:p>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Reduce-on-plateau: </a:t>
            </a:r>
            <a:r>
              <a:rPr lang="en-US" sz="1200" b="0" i="0" u="none" strike="noStrike" kern="1200" dirty="0">
                <a:solidFill>
                  <a:schemeClr val="tx1"/>
                </a:solidFill>
                <a:effectLst/>
                <a:latin typeface="+mn-lt"/>
                <a:ea typeface="+mn-ea"/>
                <a:cs typeface="+mn-cs"/>
              </a:rPr>
              <a:t>Lowers the learning rate when a metric (e.g., validation loss) stops improving.</a:t>
            </a: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Weight decay</a:t>
            </a:r>
            <a:r>
              <a:rPr lang="en-US" sz="1200" b="0" i="0" u="none" strike="noStrike" kern="1200" dirty="0">
                <a:solidFill>
                  <a:schemeClr val="tx1"/>
                </a:solidFill>
                <a:effectLst/>
                <a:latin typeface="+mn-lt"/>
                <a:ea typeface="+mn-ea"/>
                <a:cs typeface="+mn-cs"/>
              </a:rPr>
              <a:t> is a regularization technique that adds a penalty to the loss function based on the magnitude of the model weights (usually L2 norm). This discourages the model from fitting to noise and helps prevent overfitting by keeping the model weights small.</a:t>
            </a:r>
            <a:endParaRPr lang="en-US" dirty="0"/>
          </a:p>
        </p:txBody>
      </p:sp>
      <p:sp>
        <p:nvSpPr>
          <p:cNvPr id="4" name="Slide Number Placeholder 3"/>
          <p:cNvSpPr>
            <a:spLocks noGrp="1"/>
          </p:cNvSpPr>
          <p:nvPr>
            <p:ph type="sldNum" sz="quarter" idx="5"/>
          </p:nvPr>
        </p:nvSpPr>
        <p:spPr/>
        <p:txBody>
          <a:bodyPr/>
          <a:lstStyle/>
          <a:p>
            <a:fld id="{4B920C9A-1B39-43A3-A2C7-2F183ED40AB7}" type="slidenum">
              <a:rPr lang="en-DE" smtClean="0"/>
              <a:t>8</a:t>
            </a:fld>
            <a:endParaRPr lang="en-DE"/>
          </a:p>
        </p:txBody>
      </p:sp>
    </p:spTree>
    <p:extLst>
      <p:ext uri="{BB962C8B-B14F-4D97-AF65-F5344CB8AC3E}">
        <p14:creationId xmlns:p14="http://schemas.microsoft.com/office/powerpoint/2010/main" val="4081695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Multiple scheduler: multistep scheduler, cosine annealing, cyclic </a:t>
            </a:r>
            <a:r>
              <a:rPr lang="en-US" dirty="0" err="1"/>
              <a:t>lr</a:t>
            </a:r>
            <a:r>
              <a:rPr lang="en-US" dirty="0"/>
              <a:t> </a:t>
            </a:r>
          </a:p>
          <a:p>
            <a:endParaRPr lang="en-US" dirty="0"/>
          </a:p>
          <a:p>
            <a:r>
              <a:rPr lang="en-US" dirty="0" err="1"/>
              <a:t>MDice</a:t>
            </a:r>
            <a:r>
              <a:rPr lang="en-US" dirty="0"/>
              <a:t> penalizes false negatives while MIou penalizes both false positives and false negatives</a:t>
            </a:r>
          </a:p>
        </p:txBody>
      </p:sp>
      <p:sp>
        <p:nvSpPr>
          <p:cNvPr id="4" name="Slide Number Placeholder 3"/>
          <p:cNvSpPr>
            <a:spLocks noGrp="1"/>
          </p:cNvSpPr>
          <p:nvPr>
            <p:ph type="sldNum" sz="quarter" idx="5"/>
          </p:nvPr>
        </p:nvSpPr>
        <p:spPr/>
        <p:txBody>
          <a:bodyPr/>
          <a:lstStyle/>
          <a:p>
            <a:fld id="{4B920C9A-1B39-43A3-A2C7-2F183ED40AB7}" type="slidenum">
              <a:rPr lang="en-DE" smtClean="0"/>
              <a:t>9</a:t>
            </a:fld>
            <a:endParaRPr lang="en-DE"/>
          </a:p>
        </p:txBody>
      </p:sp>
    </p:spTree>
    <p:extLst>
      <p:ext uri="{BB962C8B-B14F-4D97-AF65-F5344CB8AC3E}">
        <p14:creationId xmlns:p14="http://schemas.microsoft.com/office/powerpoint/2010/main" val="3343551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9487E1-6174-4E45-A06C-D6DD11ED588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79488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7DDE-7899-48A6-45DF-57E8C758CD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45349885-F6C6-CA1A-970E-94F68488F3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2A331192-CCFC-DF1E-F1F5-C9FDE2C8F753}"/>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5B982C5C-55B6-5880-BF59-810A454010B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EB13ACF-E58B-A2FB-D053-CE6F67BD9213}"/>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50009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6C38D-E872-59FD-D46C-9654FE901491}"/>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7D5A1EFA-C44B-D5EE-DA73-1947D334A4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D8BBB614-87B6-3F25-78C3-DDD54B65F6D2}"/>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7E828F32-369F-D3E8-9CCE-A8E4F7974C6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440307B6-6024-944C-E27E-C9D7F2E245B5}"/>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3948712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3F6EA-B517-B34A-DA17-B8E2369ABF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CE09958F-E7A1-575A-C75E-56BCDE9F4A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37A934-928D-077D-F7A5-81D00C91BCE7}"/>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C5008D9E-C054-3CD3-CB1E-B732D56EE96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1B26203-0943-BAA9-61DF-88BB733765C4}"/>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220304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D8FCE-200C-D392-0A25-C3946E024CC5}"/>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3686D724-0E1C-202C-E832-709E907F58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F97983E0-F9BE-A991-492C-E6C595C852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C288BBDA-1096-AB5A-2A83-884076149AA8}"/>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6" name="Footer Placeholder 5">
            <a:extLst>
              <a:ext uri="{FF2B5EF4-FFF2-40B4-BE49-F238E27FC236}">
                <a16:creationId xmlns:a16="http://schemas.microsoft.com/office/drawing/2014/main" id="{15249C8E-D2CE-753B-EE6C-B1600089095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38C7ABFD-C83E-514A-197D-E57567937925}"/>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3992996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E91E7-C2DC-ACAB-5E7A-C6D9161A83A3}"/>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8426F361-5CC2-F72A-3264-8A23E0A801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45252E-C8E8-A886-CFFE-AE31E1D471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BFA04A0E-957A-B070-747A-4E258E23C6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841D77-4E81-07CF-7CE5-C6828D5641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9FDE3BCE-908D-0710-5095-BA426E613513}"/>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8" name="Footer Placeholder 7">
            <a:extLst>
              <a:ext uri="{FF2B5EF4-FFF2-40B4-BE49-F238E27FC236}">
                <a16:creationId xmlns:a16="http://schemas.microsoft.com/office/drawing/2014/main" id="{14F0DE82-B54D-8972-11F8-E4E4D078EC7F}"/>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2515587D-B2F4-065A-9D24-51EC5DC465DA}"/>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2638988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6EA3-96C9-1ABC-2619-8C306EF75457}"/>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80B31678-F89A-37FA-82E3-27423F7E3194}"/>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4" name="Footer Placeholder 3">
            <a:extLst>
              <a:ext uri="{FF2B5EF4-FFF2-40B4-BE49-F238E27FC236}">
                <a16:creationId xmlns:a16="http://schemas.microsoft.com/office/drawing/2014/main" id="{301A9282-141A-B9BD-6B9A-654F4B1021A9}"/>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B3C98B46-4EBF-303E-4D58-D334B15DEA93}"/>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4858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67C88D-3D92-1D85-BB7E-55CEF8D952DD}"/>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3" name="Footer Placeholder 2">
            <a:extLst>
              <a:ext uri="{FF2B5EF4-FFF2-40B4-BE49-F238E27FC236}">
                <a16:creationId xmlns:a16="http://schemas.microsoft.com/office/drawing/2014/main" id="{EE15F911-CB90-E387-68A2-524503CBEE42}"/>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1737528D-4D57-5B16-7DE0-54FB2EB1D5AB}"/>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921812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44827-09A4-6ACA-466A-1B565788F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169F3BDC-4B92-BA52-28B3-31533DF17E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D31EEAE0-597A-A3FE-0BEF-A75D02206F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A00CE-3259-3828-43BA-68C628144B74}"/>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6" name="Footer Placeholder 5">
            <a:extLst>
              <a:ext uri="{FF2B5EF4-FFF2-40B4-BE49-F238E27FC236}">
                <a16:creationId xmlns:a16="http://schemas.microsoft.com/office/drawing/2014/main" id="{D197BBAE-BB38-85FC-B363-7629DF422134}"/>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994B4C29-467B-4372-F273-80BEC457C002}"/>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5863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078BC-1A3D-4143-FC52-146D2E369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993797A0-F040-369C-E56A-A36EDC91F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0E9609CE-6BE9-A8F3-358D-E9C2AE300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6AADAF-A9E0-7778-21B0-1B1701C212E9}"/>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6" name="Footer Placeholder 5">
            <a:extLst>
              <a:ext uri="{FF2B5EF4-FFF2-40B4-BE49-F238E27FC236}">
                <a16:creationId xmlns:a16="http://schemas.microsoft.com/office/drawing/2014/main" id="{01F106A2-EE6E-D626-2BAA-E76F1E0C3601}"/>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EDC9A3A2-2C9C-6512-4610-E9501557974F}"/>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4160706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992D-04B6-0DAD-DB98-63478CAEE334}"/>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C7482AF0-BC91-5A0E-5A73-332A5D32F1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338F3B7D-E608-7613-F400-00CE3317D7B8}"/>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61429AF0-F945-A2A4-05A4-B1B821E951E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C27057C-FC0A-DFB4-1875-6041A9976C41}"/>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657320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2FCD4C-E8B9-B862-C6E9-2FE037B512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68AA339F-5E8D-C604-B086-4BDB1AA2A2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E4E4C409-ED8B-C7F8-F6CA-6E87E0FFE6D2}"/>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B2053961-3006-522F-FF30-EE50E199D34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597C3DA-3C86-5B08-604A-23E9A6EA7548}"/>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309723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9D598FC-1F51-470B-A798-D84C7B7FCBC9}" type="datetime8">
              <a:rPr lang="en-DE" smtClean="0"/>
              <a:t>7/15/25 2:34 PM</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082989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F440E70F-792D-4E5F-85AF-3C2115E90347}" type="datetime8">
              <a:rPr lang="en-DE" smtClean="0"/>
              <a:t>7/15/25 2:34 PM</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15735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C2FF475F-E8B1-42A3-A6B5-605ECDA92528}" type="datetime8">
              <a:rPr lang="en-DE" smtClean="0"/>
              <a:t>7/15/25 2:34 PM</a:t>
            </a:fld>
            <a:endParaRPr lang="en-US"/>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867489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465722C-8CF1-4D0F-BCB5-377F4C70A8B7}" type="datetime8">
              <a:rPr lang="en-DE" smtClean="0"/>
              <a:t>7/15/25 2:34 PM</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82535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ACDCCAB6-F92C-492B-A8BD-62F2FDF9BE8C}" type="datetime8">
              <a:rPr lang="en-DE" smtClean="0"/>
              <a:t>7/15/25 2:34 PM</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0401281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4C8522CD-C387-4F19-AF11-12D01E991E9C}" type="datetime8">
              <a:rPr lang="en-DE" smtClean="0"/>
              <a:t>7/15/25 2:34 PM</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314927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E782E910-14EB-4E83-8E8C-D20DDF79AFAA}" type="datetime8">
              <a:rPr lang="en-DE" smtClean="0"/>
              <a:t>7/15/25 2:34 PM</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0753236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1398F062-62E9-4AEC-B34E-8A8E6D4D06A2}" type="datetime8">
              <a:rPr lang="en-DE" smtClean="0"/>
              <a:t>7/15/25 2:34 PM</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258125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EA47EC83-8734-449C-B46B-451D8C859A46}" type="datetime8">
              <a:rPr lang="en-DE" smtClean="0"/>
              <a:t>7/15/25 2:34 PM</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1708195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FA798E88-2564-4572-9D82-E57AA6D90F50}" type="datetime8">
              <a:rPr lang="en-DE" smtClean="0"/>
              <a:t>7/15/25 2:34 PM</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297938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DDA5ED2B-1CC1-4007-A395-9FA994DF7794}" type="datetime8">
              <a:rPr lang="en-DE" smtClean="0"/>
              <a:t>7/15/25 2:34 PM</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2480947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D5F5E-0C84-FC94-7A1F-D5C3F7D00A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96657A5C-867B-B865-4735-4AD85ADD91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D0FE2D6F-5CEF-DF5C-9D78-A25A9D58C760}"/>
              </a:ext>
            </a:extLst>
          </p:cNvPr>
          <p:cNvSpPr>
            <a:spLocks noGrp="1"/>
          </p:cNvSpPr>
          <p:nvPr>
            <p:ph type="dt" sz="half" idx="10"/>
          </p:nvPr>
        </p:nvSpPr>
        <p:spPr/>
        <p:txBody>
          <a:bodyPr/>
          <a:lstStyle/>
          <a:p>
            <a:fld id="{DB3B28E0-B946-4C64-80BF-BD208C2547F8}" type="datetime8">
              <a:rPr lang="en-DE" smtClean="0"/>
              <a:t>7/15/25 2:34 PM</a:t>
            </a:fld>
            <a:endParaRPr lang="en-DE"/>
          </a:p>
        </p:txBody>
      </p:sp>
      <p:sp>
        <p:nvSpPr>
          <p:cNvPr id="5" name="Footer Placeholder 4">
            <a:extLst>
              <a:ext uri="{FF2B5EF4-FFF2-40B4-BE49-F238E27FC236}">
                <a16:creationId xmlns:a16="http://schemas.microsoft.com/office/drawing/2014/main" id="{97388BDF-51A8-6C15-8D3B-B987FBA96A2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F659AB6-09F9-3332-22EF-75CCA6DD3D07}"/>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30226350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C857-9E7B-2B8F-BF3F-FEEBD1A3F82F}"/>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9217A0DB-5E7C-08DD-D22D-A6A9CEC659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49E9F351-1C17-E190-08BC-B717D5EF3F7D}"/>
              </a:ext>
            </a:extLst>
          </p:cNvPr>
          <p:cNvSpPr>
            <a:spLocks noGrp="1"/>
          </p:cNvSpPr>
          <p:nvPr>
            <p:ph type="dt" sz="half" idx="10"/>
          </p:nvPr>
        </p:nvSpPr>
        <p:spPr/>
        <p:txBody>
          <a:bodyPr/>
          <a:lstStyle/>
          <a:p>
            <a:fld id="{B5D3E868-CF53-4BF9-B015-A13BBE531D93}" type="datetime8">
              <a:rPr lang="en-DE" smtClean="0"/>
              <a:t>7/15/25 2:34 PM</a:t>
            </a:fld>
            <a:endParaRPr lang="en-DE"/>
          </a:p>
        </p:txBody>
      </p:sp>
      <p:sp>
        <p:nvSpPr>
          <p:cNvPr id="5" name="Footer Placeholder 4">
            <a:extLst>
              <a:ext uri="{FF2B5EF4-FFF2-40B4-BE49-F238E27FC236}">
                <a16:creationId xmlns:a16="http://schemas.microsoft.com/office/drawing/2014/main" id="{7A5E69E7-B9BF-541C-529A-3217FCFB277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08DBDBE8-8B84-703D-173F-B977C73F783F}"/>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19934529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0C596-E5F8-C9A5-F273-C76EE12115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B15AE0E1-72FF-CBA0-F60D-E8540876ED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1E3D2E-8CB9-575D-EB5B-6B025E08689D}"/>
              </a:ext>
            </a:extLst>
          </p:cNvPr>
          <p:cNvSpPr>
            <a:spLocks noGrp="1"/>
          </p:cNvSpPr>
          <p:nvPr>
            <p:ph type="dt" sz="half" idx="10"/>
          </p:nvPr>
        </p:nvSpPr>
        <p:spPr/>
        <p:txBody>
          <a:bodyPr/>
          <a:lstStyle/>
          <a:p>
            <a:fld id="{9DF02EF1-29EE-4E65-B26D-922FFAE2502E}" type="datetime8">
              <a:rPr lang="en-DE" smtClean="0"/>
              <a:t>7/15/25 2:34 PM</a:t>
            </a:fld>
            <a:endParaRPr lang="en-DE"/>
          </a:p>
        </p:txBody>
      </p:sp>
      <p:sp>
        <p:nvSpPr>
          <p:cNvPr id="5" name="Footer Placeholder 4">
            <a:extLst>
              <a:ext uri="{FF2B5EF4-FFF2-40B4-BE49-F238E27FC236}">
                <a16:creationId xmlns:a16="http://schemas.microsoft.com/office/drawing/2014/main" id="{5D6D15CC-7BA2-6DFA-504A-11B940C8692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8FA8970-1E19-A303-7E0E-0614F523B372}"/>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22871298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D36B0-2300-0211-D1E0-2F331FA7932F}"/>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4001EF8C-B040-D812-2A4E-3C7E1D5B72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8CE0E7A8-B1D9-8043-0B7E-1725E8EDF5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C2BF14FA-5FEA-DED5-163F-07C0E1A7865C}"/>
              </a:ext>
            </a:extLst>
          </p:cNvPr>
          <p:cNvSpPr>
            <a:spLocks noGrp="1"/>
          </p:cNvSpPr>
          <p:nvPr>
            <p:ph type="dt" sz="half" idx="10"/>
          </p:nvPr>
        </p:nvSpPr>
        <p:spPr/>
        <p:txBody>
          <a:bodyPr/>
          <a:lstStyle/>
          <a:p>
            <a:fld id="{C20032F6-0D48-4334-B16F-39EC5B77D4E7}" type="datetime8">
              <a:rPr lang="en-DE" smtClean="0"/>
              <a:t>7/15/25 2:34 PM</a:t>
            </a:fld>
            <a:endParaRPr lang="en-DE"/>
          </a:p>
        </p:txBody>
      </p:sp>
      <p:sp>
        <p:nvSpPr>
          <p:cNvPr id="6" name="Footer Placeholder 5">
            <a:extLst>
              <a:ext uri="{FF2B5EF4-FFF2-40B4-BE49-F238E27FC236}">
                <a16:creationId xmlns:a16="http://schemas.microsoft.com/office/drawing/2014/main" id="{36FC6B83-70B7-D3E0-B8FA-4A8827ECD438}"/>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90E30EF9-AA8F-DBBD-255E-9126CEEBFDEA}"/>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2050296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C26B1-F40B-4206-3DD9-1CB98F6D760D}"/>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433AFC6B-6071-06C9-E519-7EDCA83F3B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D8BB90-56DA-386D-B0E7-52AF808A08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9258E1EF-0CDF-915A-6A55-0F19BB85D5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AEEB42-8C71-FCB1-CC6A-3AC6F0FE0E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5750A847-7150-0FC1-0061-EAC8554B69F8}"/>
              </a:ext>
            </a:extLst>
          </p:cNvPr>
          <p:cNvSpPr>
            <a:spLocks noGrp="1"/>
          </p:cNvSpPr>
          <p:nvPr>
            <p:ph type="dt" sz="half" idx="10"/>
          </p:nvPr>
        </p:nvSpPr>
        <p:spPr/>
        <p:txBody>
          <a:bodyPr/>
          <a:lstStyle/>
          <a:p>
            <a:fld id="{920B2C8F-87E4-46C4-A246-75BC41D0C828}" type="datetime8">
              <a:rPr lang="en-DE" smtClean="0"/>
              <a:t>7/15/25 2:34 PM</a:t>
            </a:fld>
            <a:endParaRPr lang="en-DE"/>
          </a:p>
        </p:txBody>
      </p:sp>
      <p:sp>
        <p:nvSpPr>
          <p:cNvPr id="8" name="Footer Placeholder 7">
            <a:extLst>
              <a:ext uri="{FF2B5EF4-FFF2-40B4-BE49-F238E27FC236}">
                <a16:creationId xmlns:a16="http://schemas.microsoft.com/office/drawing/2014/main" id="{E82F410E-E572-1681-A6DD-933DD206D723}"/>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9176BE2F-9020-EC3D-4B98-41AA098DB61A}"/>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6877036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2FEAB-BB60-25DC-0CE2-7449281E84C3}"/>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EF445391-9207-F0FC-E3AB-22C8D15F7199}"/>
              </a:ext>
            </a:extLst>
          </p:cNvPr>
          <p:cNvSpPr>
            <a:spLocks noGrp="1"/>
          </p:cNvSpPr>
          <p:nvPr>
            <p:ph type="dt" sz="half" idx="10"/>
          </p:nvPr>
        </p:nvSpPr>
        <p:spPr/>
        <p:txBody>
          <a:bodyPr/>
          <a:lstStyle/>
          <a:p>
            <a:fld id="{FF83828F-9D78-4C21-ACE7-33CCD156945E}" type="datetime8">
              <a:rPr lang="en-DE" smtClean="0"/>
              <a:t>7/15/25 2:34 PM</a:t>
            </a:fld>
            <a:endParaRPr lang="en-DE"/>
          </a:p>
        </p:txBody>
      </p:sp>
      <p:sp>
        <p:nvSpPr>
          <p:cNvPr id="4" name="Footer Placeholder 3">
            <a:extLst>
              <a:ext uri="{FF2B5EF4-FFF2-40B4-BE49-F238E27FC236}">
                <a16:creationId xmlns:a16="http://schemas.microsoft.com/office/drawing/2014/main" id="{7549ED9D-12F5-857B-0922-49177F293353}"/>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15F9EB1C-C90D-F9DC-0438-236B0C762FAA}"/>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10811507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40297D-7C5B-B284-2760-7E78AE855B26}"/>
              </a:ext>
            </a:extLst>
          </p:cNvPr>
          <p:cNvSpPr>
            <a:spLocks noGrp="1"/>
          </p:cNvSpPr>
          <p:nvPr>
            <p:ph type="dt" sz="half" idx="10"/>
          </p:nvPr>
        </p:nvSpPr>
        <p:spPr/>
        <p:txBody>
          <a:bodyPr/>
          <a:lstStyle/>
          <a:p>
            <a:fld id="{2F63B4D3-13FD-44E3-9255-5E3BDDE831FE}" type="datetime8">
              <a:rPr lang="en-DE" smtClean="0"/>
              <a:t>7/15/25 2:34 PM</a:t>
            </a:fld>
            <a:endParaRPr lang="en-DE"/>
          </a:p>
        </p:txBody>
      </p:sp>
      <p:sp>
        <p:nvSpPr>
          <p:cNvPr id="3" name="Footer Placeholder 2">
            <a:extLst>
              <a:ext uri="{FF2B5EF4-FFF2-40B4-BE49-F238E27FC236}">
                <a16:creationId xmlns:a16="http://schemas.microsoft.com/office/drawing/2014/main" id="{8865E454-F622-F277-B2C9-49DF5DA57093}"/>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7BB8D069-4545-B7B1-FB90-7ABE6C34C851}"/>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27013626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2B83B-62C3-B783-1C7C-7E7CB271FE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9F287783-9794-6516-3875-B799EEC57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0088C9DD-E760-69FE-4171-514E15F4D4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D8ED62-617B-2F87-DC9D-F290550E6518}"/>
              </a:ext>
            </a:extLst>
          </p:cNvPr>
          <p:cNvSpPr>
            <a:spLocks noGrp="1"/>
          </p:cNvSpPr>
          <p:nvPr>
            <p:ph type="dt" sz="half" idx="10"/>
          </p:nvPr>
        </p:nvSpPr>
        <p:spPr/>
        <p:txBody>
          <a:bodyPr/>
          <a:lstStyle/>
          <a:p>
            <a:fld id="{BAEEE8BE-520C-458B-B11D-B88EDFD8F694}" type="datetime8">
              <a:rPr lang="en-DE" smtClean="0"/>
              <a:t>7/15/25 2:34 PM</a:t>
            </a:fld>
            <a:endParaRPr lang="en-DE"/>
          </a:p>
        </p:txBody>
      </p:sp>
      <p:sp>
        <p:nvSpPr>
          <p:cNvPr id="6" name="Footer Placeholder 5">
            <a:extLst>
              <a:ext uri="{FF2B5EF4-FFF2-40B4-BE49-F238E27FC236}">
                <a16:creationId xmlns:a16="http://schemas.microsoft.com/office/drawing/2014/main" id="{7BB4185A-E132-544F-3950-4604787BF41A}"/>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93F0E77C-C6EA-D424-0BBF-061E9A41E7EB}"/>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2997167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9218C-ACF1-B7B1-0079-6FCED8AF4B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A8445E1C-8C0D-A914-9022-1B8B2595AE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1B6539EC-F2D9-4E93-F565-F3056F15FA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71A6BF-121E-9750-4AEB-D91F3E7AB925}"/>
              </a:ext>
            </a:extLst>
          </p:cNvPr>
          <p:cNvSpPr>
            <a:spLocks noGrp="1"/>
          </p:cNvSpPr>
          <p:nvPr>
            <p:ph type="dt" sz="half" idx="10"/>
          </p:nvPr>
        </p:nvSpPr>
        <p:spPr/>
        <p:txBody>
          <a:bodyPr/>
          <a:lstStyle/>
          <a:p>
            <a:fld id="{7618A283-6DAB-4C05-B507-87E899061DC1}" type="datetime8">
              <a:rPr lang="en-DE" smtClean="0"/>
              <a:t>7/15/25 2:34 PM</a:t>
            </a:fld>
            <a:endParaRPr lang="en-DE"/>
          </a:p>
        </p:txBody>
      </p:sp>
      <p:sp>
        <p:nvSpPr>
          <p:cNvPr id="6" name="Footer Placeholder 5">
            <a:extLst>
              <a:ext uri="{FF2B5EF4-FFF2-40B4-BE49-F238E27FC236}">
                <a16:creationId xmlns:a16="http://schemas.microsoft.com/office/drawing/2014/main" id="{83A75DD3-FE6D-EDFA-0026-D53AFB1C8722}"/>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C392E3F2-4294-FF1B-AD73-F06C7240427B}"/>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11486783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A66CB-E681-4246-B0E5-61D741260B5D}"/>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3BE06577-AF35-754D-5237-06B6F49CB7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C7973F27-E244-4FB7-2BD8-A8D1571496D5}"/>
              </a:ext>
            </a:extLst>
          </p:cNvPr>
          <p:cNvSpPr>
            <a:spLocks noGrp="1"/>
          </p:cNvSpPr>
          <p:nvPr>
            <p:ph type="dt" sz="half" idx="10"/>
          </p:nvPr>
        </p:nvSpPr>
        <p:spPr/>
        <p:txBody>
          <a:bodyPr/>
          <a:lstStyle/>
          <a:p>
            <a:fld id="{C8035A94-87CD-4829-87D7-B0E3ABB8DC62}" type="datetime8">
              <a:rPr lang="en-DE" smtClean="0"/>
              <a:t>7/15/25 2:34 PM</a:t>
            </a:fld>
            <a:endParaRPr lang="en-DE"/>
          </a:p>
        </p:txBody>
      </p:sp>
      <p:sp>
        <p:nvSpPr>
          <p:cNvPr id="5" name="Footer Placeholder 4">
            <a:extLst>
              <a:ext uri="{FF2B5EF4-FFF2-40B4-BE49-F238E27FC236}">
                <a16:creationId xmlns:a16="http://schemas.microsoft.com/office/drawing/2014/main" id="{14BC13F6-2BDE-1E3B-736F-436938FF79C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AC342AE-0E16-AE78-B583-76DB8E0ECA9D}"/>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4777173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A3FDAA-4C9F-9CE3-A6DA-B970B0648F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7136AA3F-0701-2369-B3E4-E276E64978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718070AB-F55E-98F0-5FB4-24E2E52B0648}"/>
              </a:ext>
            </a:extLst>
          </p:cNvPr>
          <p:cNvSpPr>
            <a:spLocks noGrp="1"/>
          </p:cNvSpPr>
          <p:nvPr>
            <p:ph type="dt" sz="half" idx="10"/>
          </p:nvPr>
        </p:nvSpPr>
        <p:spPr/>
        <p:txBody>
          <a:bodyPr/>
          <a:lstStyle/>
          <a:p>
            <a:fld id="{914EE68B-A056-4ECF-BF6F-57224AD26980}" type="datetime8">
              <a:rPr lang="en-DE" smtClean="0"/>
              <a:t>7/15/25 2:34 PM</a:t>
            </a:fld>
            <a:endParaRPr lang="en-DE"/>
          </a:p>
        </p:txBody>
      </p:sp>
      <p:sp>
        <p:nvSpPr>
          <p:cNvPr id="5" name="Footer Placeholder 4">
            <a:extLst>
              <a:ext uri="{FF2B5EF4-FFF2-40B4-BE49-F238E27FC236}">
                <a16:creationId xmlns:a16="http://schemas.microsoft.com/office/drawing/2014/main" id="{C2366994-EFDB-7794-F361-4AB836A9197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B5CD37A-FEC1-F287-7D59-D43EC8197045}"/>
              </a:ext>
            </a:extLst>
          </p:cNvPr>
          <p:cNvSpPr>
            <a:spLocks noGrp="1"/>
          </p:cNvSpPr>
          <p:nvPr>
            <p:ph type="sldNum" sz="quarter" idx="12"/>
          </p:nvPr>
        </p:nvSpPr>
        <p:spPr/>
        <p:txBody>
          <a:bodyPr/>
          <a:lstStyle/>
          <a:p>
            <a:fld id="{1A5BB907-1EFC-4F5C-91C1-C9A19A265869}" type="slidenum">
              <a:rPr lang="en-DE" smtClean="0"/>
              <a:t>‹#›</a:t>
            </a:fld>
            <a:endParaRPr lang="en-DE"/>
          </a:p>
        </p:txBody>
      </p:sp>
    </p:spTree>
    <p:extLst>
      <p:ext uri="{BB962C8B-B14F-4D97-AF65-F5344CB8AC3E}">
        <p14:creationId xmlns:p14="http://schemas.microsoft.com/office/powerpoint/2010/main" val="39658725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4211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55026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90144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4021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8881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76713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37195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38532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8290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25924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39758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7DDE-7899-48A6-45DF-57E8C758CD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45349885-F6C6-CA1A-970E-94F68488F3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2A331192-CCFC-DF1E-F1F5-C9FDE2C8F753}"/>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5B982C5C-55B6-5880-BF59-810A454010B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EB13ACF-E58B-A2FB-D053-CE6F67BD9213}"/>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2160839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6C38D-E872-59FD-D46C-9654FE901491}"/>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7D5A1EFA-C44B-D5EE-DA73-1947D334A4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D8BBB614-87B6-3F25-78C3-DDD54B65F6D2}"/>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7E828F32-369F-D3E8-9CCE-A8E4F7974C6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440307B6-6024-944C-E27E-C9D7F2E245B5}"/>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28259947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3F6EA-B517-B34A-DA17-B8E2369ABF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CE09958F-E7A1-575A-C75E-56BCDE9F4A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37A934-928D-077D-F7A5-81D00C91BCE7}"/>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C5008D9E-C054-3CD3-CB1E-B732D56EE96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1B26203-0943-BAA9-61DF-88BB733765C4}"/>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24874172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D8FCE-200C-D392-0A25-C3946E024CC5}"/>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3686D724-0E1C-202C-E832-709E907F58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F97983E0-F9BE-A991-492C-E6C595C852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C288BBDA-1096-AB5A-2A83-884076149AA8}"/>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6" name="Footer Placeholder 5">
            <a:extLst>
              <a:ext uri="{FF2B5EF4-FFF2-40B4-BE49-F238E27FC236}">
                <a16:creationId xmlns:a16="http://schemas.microsoft.com/office/drawing/2014/main" id="{15249C8E-D2CE-753B-EE6C-B1600089095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38C7ABFD-C83E-514A-197D-E57567937925}"/>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4433801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E91E7-C2DC-ACAB-5E7A-C6D9161A83A3}"/>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8426F361-5CC2-F72A-3264-8A23E0A801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45252E-C8E8-A886-CFFE-AE31E1D471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BFA04A0E-957A-B070-747A-4E258E23C6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841D77-4E81-07CF-7CE5-C6828D5641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9FDE3BCE-908D-0710-5095-BA426E613513}"/>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8" name="Footer Placeholder 7">
            <a:extLst>
              <a:ext uri="{FF2B5EF4-FFF2-40B4-BE49-F238E27FC236}">
                <a16:creationId xmlns:a16="http://schemas.microsoft.com/office/drawing/2014/main" id="{14F0DE82-B54D-8972-11F8-E4E4D078EC7F}"/>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2515587D-B2F4-065A-9D24-51EC5DC465DA}"/>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32167912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6EA3-96C9-1ABC-2619-8C306EF75457}"/>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80B31678-F89A-37FA-82E3-27423F7E3194}"/>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4" name="Footer Placeholder 3">
            <a:extLst>
              <a:ext uri="{FF2B5EF4-FFF2-40B4-BE49-F238E27FC236}">
                <a16:creationId xmlns:a16="http://schemas.microsoft.com/office/drawing/2014/main" id="{301A9282-141A-B9BD-6B9A-654F4B1021A9}"/>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B3C98B46-4EBF-303E-4D58-D334B15DEA93}"/>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6514482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67C88D-3D92-1D85-BB7E-55CEF8D952DD}"/>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3" name="Footer Placeholder 2">
            <a:extLst>
              <a:ext uri="{FF2B5EF4-FFF2-40B4-BE49-F238E27FC236}">
                <a16:creationId xmlns:a16="http://schemas.microsoft.com/office/drawing/2014/main" id="{EE15F911-CB90-E387-68A2-524503CBEE42}"/>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1737528D-4D57-5B16-7DE0-54FB2EB1D5AB}"/>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7634981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44827-09A4-6ACA-466A-1B565788F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169F3BDC-4B92-BA52-28B3-31533DF17E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D31EEAE0-597A-A3FE-0BEF-A75D02206F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A00CE-3259-3828-43BA-68C628144B74}"/>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6" name="Footer Placeholder 5">
            <a:extLst>
              <a:ext uri="{FF2B5EF4-FFF2-40B4-BE49-F238E27FC236}">
                <a16:creationId xmlns:a16="http://schemas.microsoft.com/office/drawing/2014/main" id="{D197BBAE-BB38-85FC-B363-7629DF422134}"/>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994B4C29-467B-4372-F273-80BEC457C002}"/>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40254899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078BC-1A3D-4143-FC52-146D2E369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993797A0-F040-369C-E56A-A36EDC91F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0E9609CE-6BE9-A8F3-358D-E9C2AE300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6AADAF-A9E0-7778-21B0-1B1701C212E9}"/>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6" name="Footer Placeholder 5">
            <a:extLst>
              <a:ext uri="{FF2B5EF4-FFF2-40B4-BE49-F238E27FC236}">
                <a16:creationId xmlns:a16="http://schemas.microsoft.com/office/drawing/2014/main" id="{01F106A2-EE6E-D626-2BAA-E76F1E0C3601}"/>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EDC9A3A2-2C9C-6512-4610-E9501557974F}"/>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1900298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992D-04B6-0DAD-DB98-63478CAEE334}"/>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C7482AF0-BC91-5A0E-5A73-332A5D32F1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338F3B7D-E608-7613-F400-00CE3317D7B8}"/>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61429AF0-F945-A2A4-05A4-B1B821E951E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C27057C-FC0A-DFB4-1875-6041A9976C41}"/>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2385942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2FCD4C-E8B9-B862-C6E9-2FE037B512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68AA339F-5E8D-C604-B086-4BDB1AA2A2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E4E4C409-ED8B-C7F8-F6CA-6E87E0FFE6D2}"/>
              </a:ext>
            </a:extLst>
          </p:cNvPr>
          <p:cNvSpPr>
            <a:spLocks noGrp="1"/>
          </p:cNvSpPr>
          <p:nvPr>
            <p:ph type="dt" sz="half" idx="10"/>
          </p:nvPr>
        </p:nvSpPr>
        <p:spPr/>
        <p:txBody>
          <a:body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B2053961-3006-522F-FF30-EE50E199D34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597C3DA-3C86-5B08-604A-23E9A6EA7548}"/>
              </a:ext>
            </a:extLst>
          </p:cNvPr>
          <p:cNvSpPr>
            <a:spLocks noGrp="1"/>
          </p:cNvSpPr>
          <p:nvPr>
            <p:ph type="sldNum" sz="quarter" idx="12"/>
          </p:nvPr>
        </p:nvSpPr>
        <p:spPr/>
        <p:txBody>
          <a:bodyPr/>
          <a:lstStyle/>
          <a:p>
            <a:fld id="{7B526358-B2A4-40FF-A669-0707B25738D8}" type="slidenum">
              <a:rPr lang="en-DE" smtClean="0"/>
              <a:t>‹#›</a:t>
            </a:fld>
            <a:endParaRPr lang="en-DE"/>
          </a:p>
        </p:txBody>
      </p:sp>
    </p:spTree>
    <p:extLst>
      <p:ext uri="{BB962C8B-B14F-4D97-AF65-F5344CB8AC3E}">
        <p14:creationId xmlns:p14="http://schemas.microsoft.com/office/powerpoint/2010/main" val="1190841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909E7C-B759-9B5E-37D8-EB63DFD910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BBB548B1-0859-FBA7-A826-92C8FB6A12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7C2FC896-1B0A-E93A-1022-A5395C7D34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F80611D7-4BE4-6774-66DC-A1716B54F7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08E775A7-5763-1E3E-98A5-CFE5A68FD1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526358-B2A4-40FF-A669-0707B25738D8}" type="slidenum">
              <a:rPr lang="en-DE" smtClean="0"/>
              <a:t>‹#›</a:t>
            </a:fld>
            <a:endParaRPr lang="en-DE"/>
          </a:p>
        </p:txBody>
      </p:sp>
    </p:spTree>
    <p:extLst>
      <p:ext uri="{BB962C8B-B14F-4D97-AF65-F5344CB8AC3E}">
        <p14:creationId xmlns:p14="http://schemas.microsoft.com/office/powerpoint/2010/main" val="1932593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592C47A5-EDF6-423E-B155-194A3800AF26}" type="datetime8">
              <a:rPr lang="en-DE" smtClean="0"/>
              <a:t>7/15/25 2:34 PM</a:t>
            </a:fld>
            <a:endParaRPr lang="en-US"/>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a:p>
        </p:txBody>
      </p:sp>
    </p:spTree>
    <p:extLst>
      <p:ext uri="{BB962C8B-B14F-4D97-AF65-F5344CB8AC3E}">
        <p14:creationId xmlns:p14="http://schemas.microsoft.com/office/powerpoint/2010/main" val="41039009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2F57A7-2105-F332-08CC-5207DD444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E2140284-D803-4C9E-B3F7-40FE01258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F00D7425-40B1-B5BA-DAC5-9DB6503348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026B08-8C75-4CD4-8404-DAF16340AB73}" type="datetime8">
              <a:rPr lang="en-DE" smtClean="0"/>
              <a:t>7/15/25 2:34 PM</a:t>
            </a:fld>
            <a:endParaRPr lang="en-DE"/>
          </a:p>
        </p:txBody>
      </p:sp>
      <p:sp>
        <p:nvSpPr>
          <p:cNvPr id="5" name="Footer Placeholder 4">
            <a:extLst>
              <a:ext uri="{FF2B5EF4-FFF2-40B4-BE49-F238E27FC236}">
                <a16:creationId xmlns:a16="http://schemas.microsoft.com/office/drawing/2014/main" id="{B6A3A120-C1F8-A141-102A-BFADBB4ECE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79690B9E-8AC7-AE23-252D-96A9BFE701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BB907-1EFC-4F5C-91C1-C9A19A265869}" type="slidenum">
              <a:rPr lang="en-DE" smtClean="0"/>
              <a:t>‹#›</a:t>
            </a:fld>
            <a:endParaRPr lang="en-DE"/>
          </a:p>
        </p:txBody>
      </p:sp>
    </p:spTree>
    <p:extLst>
      <p:ext uri="{BB962C8B-B14F-4D97-AF65-F5344CB8AC3E}">
        <p14:creationId xmlns:p14="http://schemas.microsoft.com/office/powerpoint/2010/main" val="23765113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7/15/25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9287990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909E7C-B759-9B5E-37D8-EB63DFD910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BBB548B1-0859-FBA7-A826-92C8FB6A12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7C2FC896-1B0A-E93A-1022-A5395C7D34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4927BE-5229-49C7-9E5E-BF3424F2A507}" type="datetimeFigureOut">
              <a:rPr lang="en-DE" smtClean="0"/>
              <a:t>7/15/25</a:t>
            </a:fld>
            <a:endParaRPr lang="en-DE"/>
          </a:p>
        </p:txBody>
      </p:sp>
      <p:sp>
        <p:nvSpPr>
          <p:cNvPr id="5" name="Footer Placeholder 4">
            <a:extLst>
              <a:ext uri="{FF2B5EF4-FFF2-40B4-BE49-F238E27FC236}">
                <a16:creationId xmlns:a16="http://schemas.microsoft.com/office/drawing/2014/main" id="{F80611D7-4BE4-6774-66DC-A1716B54F7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08E775A7-5763-1E3E-98A5-CFE5A68FD1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526358-B2A4-40FF-A669-0707B25738D8}" type="slidenum">
              <a:rPr lang="en-DE" smtClean="0"/>
              <a:t>‹#›</a:t>
            </a:fld>
            <a:endParaRPr lang="en-DE"/>
          </a:p>
        </p:txBody>
      </p:sp>
    </p:spTree>
    <p:extLst>
      <p:ext uri="{BB962C8B-B14F-4D97-AF65-F5344CB8AC3E}">
        <p14:creationId xmlns:p14="http://schemas.microsoft.com/office/powerpoint/2010/main" val="133463599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5.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github.com/djdubeyji/SwinE-Net" TargetMode="Externa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744EBA-69CA-A20E-664F-DD5055D857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369BD-1FE6-9D06-CA22-116B8A3B45BF}"/>
              </a:ext>
            </a:extLst>
          </p:cNvPr>
          <p:cNvSpPr>
            <a:spLocks noGrp="1"/>
          </p:cNvSpPr>
          <p:nvPr>
            <p:ph type="ctrTitle"/>
          </p:nvPr>
        </p:nvSpPr>
        <p:spPr>
          <a:xfrm>
            <a:off x="430898" y="539708"/>
            <a:ext cx="6551985" cy="4792050"/>
          </a:xfrm>
        </p:spPr>
        <p:txBody>
          <a:bodyPr anchor="t">
            <a:normAutofit/>
          </a:bodyPr>
          <a:lstStyle/>
          <a:p>
            <a:r>
              <a:rPr lang="en-US" sz="8100"/>
              <a:t>Polyps Segmentation in Colonoscopy</a:t>
            </a:r>
            <a:endParaRPr lang="en-US" sz="8100" dirty="0"/>
          </a:p>
        </p:txBody>
      </p:sp>
      <p:sp>
        <p:nvSpPr>
          <p:cNvPr id="3" name="Subtitle 2">
            <a:extLst>
              <a:ext uri="{FF2B5EF4-FFF2-40B4-BE49-F238E27FC236}">
                <a16:creationId xmlns:a16="http://schemas.microsoft.com/office/drawing/2014/main" id="{94A8BF08-456C-B848-B439-A8ABBEE91BC5}"/>
              </a:ext>
            </a:extLst>
          </p:cNvPr>
          <p:cNvSpPr>
            <a:spLocks noGrp="1"/>
          </p:cNvSpPr>
          <p:nvPr>
            <p:ph type="subTitle" idx="1"/>
          </p:nvPr>
        </p:nvSpPr>
        <p:spPr>
          <a:xfrm>
            <a:off x="550864" y="5516562"/>
            <a:ext cx="4500562" cy="796311"/>
          </a:xfrm>
        </p:spPr>
        <p:txBody>
          <a:bodyPr anchor="b">
            <a:normAutofit lnSpcReduction="10000"/>
          </a:bodyPr>
          <a:lstStyle/>
          <a:p>
            <a:r>
              <a:rPr lang="en-US"/>
              <a:t>By: Pranjal Sharma,</a:t>
            </a:r>
          </a:p>
          <a:p>
            <a:r>
              <a:rPr lang="en-US"/>
              <a:t>      Hanisha Kasaraneni</a:t>
            </a:r>
          </a:p>
        </p:txBody>
      </p:sp>
      <p:pic>
        <p:nvPicPr>
          <p:cNvPr id="4" name="Picture 3">
            <a:extLst>
              <a:ext uri="{FF2B5EF4-FFF2-40B4-BE49-F238E27FC236}">
                <a16:creationId xmlns:a16="http://schemas.microsoft.com/office/drawing/2014/main" id="{B99E4F80-DB90-89CF-1526-62DE1A53FDB6}"/>
              </a:ext>
            </a:extLst>
          </p:cNvPr>
          <p:cNvPicPr>
            <a:picLocks noChangeAspect="1"/>
          </p:cNvPicPr>
          <p:nvPr/>
        </p:nvPicPr>
        <p:blipFill>
          <a:blip r:embed="rId3"/>
          <a:srcRect l="25000"/>
          <a:stretch/>
        </p:blipFill>
        <p:spPr>
          <a:xfrm>
            <a:off x="4925125" y="305831"/>
            <a:ext cx="685800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
        <p:nvSpPr>
          <p:cNvPr id="5" name="Slide Number Placeholder 4">
            <a:extLst>
              <a:ext uri="{FF2B5EF4-FFF2-40B4-BE49-F238E27FC236}">
                <a16:creationId xmlns:a16="http://schemas.microsoft.com/office/drawing/2014/main" id="{80334FD5-AFEF-4650-0AD3-BC9ACED476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D77608-3819-479B-BB98-C216BA724EFE}" type="slidenum">
              <a:rPr kumimoji="0" lang="en-US" sz="1000" b="0" i="0" u="none" strike="noStrike" kern="1200" cap="none" spc="100" normalizeH="0" baseline="0" noProof="0" smtClean="0">
                <a:ln>
                  <a:noFill/>
                </a:ln>
                <a:solidFill>
                  <a:prstClr val="white"/>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100" normalizeH="0" baseline="0" noProof="0">
              <a:ln>
                <a:noFill/>
              </a:ln>
              <a:solidFill>
                <a:prstClr val="white"/>
              </a:solidFill>
              <a:effectLst/>
              <a:uLnTx/>
              <a:uFillTx/>
              <a:latin typeface="Avenir Next LT Pro"/>
              <a:ea typeface="+mn-ea"/>
              <a:cs typeface="+mn-cs"/>
            </a:endParaRPr>
          </a:p>
        </p:txBody>
      </p:sp>
    </p:spTree>
    <p:extLst>
      <p:ext uri="{BB962C8B-B14F-4D97-AF65-F5344CB8AC3E}">
        <p14:creationId xmlns:p14="http://schemas.microsoft.com/office/powerpoint/2010/main" val="3363608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AC68A-DFC1-DD46-44DA-1DC09E844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C6C3-8E2F-DF03-6577-3384E95FDB5D}"/>
              </a:ext>
            </a:extLst>
          </p:cNvPr>
          <p:cNvSpPr>
            <a:spLocks noGrp="1"/>
          </p:cNvSpPr>
          <p:nvPr>
            <p:ph type="title"/>
          </p:nvPr>
        </p:nvSpPr>
        <p:spPr>
          <a:xfrm>
            <a:off x="550438" y="623507"/>
            <a:ext cx="11101135" cy="817857"/>
          </a:xfrm>
        </p:spPr>
        <p:txBody>
          <a:bodyPr>
            <a:normAutofit fontScale="90000"/>
          </a:bodyPr>
          <a:lstStyle/>
          <a:p>
            <a:pPr algn="ctr"/>
            <a:r>
              <a:rPr lang="en-US" dirty="0"/>
              <a:t>Team Members</a:t>
            </a:r>
            <a:endParaRPr lang="en-US"/>
          </a:p>
        </p:txBody>
      </p:sp>
      <p:pic>
        <p:nvPicPr>
          <p:cNvPr id="5" name="Content Placeholder 4">
            <a:extLst>
              <a:ext uri="{FF2B5EF4-FFF2-40B4-BE49-F238E27FC236}">
                <a16:creationId xmlns:a16="http://schemas.microsoft.com/office/drawing/2014/main" id="{845DE5A1-0FB3-BA8D-D75F-A4F7DB1D966B}"/>
              </a:ext>
            </a:extLst>
          </p:cNvPr>
          <p:cNvPicPr>
            <a:picLocks noGrp="1" noChangeAspect="1"/>
          </p:cNvPicPr>
          <p:nvPr>
            <p:ph idx="1"/>
          </p:nvPr>
        </p:nvPicPr>
        <p:blipFill>
          <a:blip r:embed="rId2"/>
          <a:srcRect t="6706" r="518" b="11720"/>
          <a:stretch/>
        </p:blipFill>
        <p:spPr>
          <a:xfrm>
            <a:off x="3211732" y="2100914"/>
            <a:ext cx="1999888" cy="2921592"/>
          </a:xfrm>
        </p:spPr>
      </p:pic>
      <p:pic>
        <p:nvPicPr>
          <p:cNvPr id="6" name="Picture 5">
            <a:extLst>
              <a:ext uri="{FF2B5EF4-FFF2-40B4-BE49-F238E27FC236}">
                <a16:creationId xmlns:a16="http://schemas.microsoft.com/office/drawing/2014/main" id="{58E1E8D7-1CEE-2754-C827-06F8EABD0A55}"/>
              </a:ext>
            </a:extLst>
          </p:cNvPr>
          <p:cNvPicPr>
            <a:picLocks noChangeAspect="1"/>
          </p:cNvPicPr>
          <p:nvPr/>
        </p:nvPicPr>
        <p:blipFill>
          <a:blip r:embed="rId3"/>
          <a:srcRect t="6646" r="-526" b="11842"/>
          <a:stretch/>
        </p:blipFill>
        <p:spPr>
          <a:xfrm>
            <a:off x="7236063" y="2095988"/>
            <a:ext cx="1999632" cy="2918396"/>
          </a:xfrm>
          <a:prstGeom prst="rect">
            <a:avLst/>
          </a:prstGeom>
        </p:spPr>
      </p:pic>
      <p:sp>
        <p:nvSpPr>
          <p:cNvPr id="8" name="TextBox 7">
            <a:extLst>
              <a:ext uri="{FF2B5EF4-FFF2-40B4-BE49-F238E27FC236}">
                <a16:creationId xmlns:a16="http://schemas.microsoft.com/office/drawing/2014/main" id="{7B38F57B-4BC1-761A-3513-74284E7776B6}"/>
              </a:ext>
            </a:extLst>
          </p:cNvPr>
          <p:cNvSpPr txBox="1"/>
          <p:nvPr/>
        </p:nvSpPr>
        <p:spPr>
          <a:xfrm>
            <a:off x="3209095" y="5555549"/>
            <a:ext cx="27721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all" spc="0" normalizeH="0" baseline="0" noProof="0" dirty="0">
                <a:ln>
                  <a:noFill/>
                </a:ln>
                <a:solidFill>
                  <a:prstClr val="white"/>
                </a:solidFill>
                <a:effectLst/>
                <a:uLnTx/>
                <a:uFillTx/>
                <a:latin typeface="Avenir Next LT Pro"/>
                <a:ea typeface="+mn-ea"/>
                <a:cs typeface="+mn-cs"/>
              </a:rPr>
              <a:t>Pranjal Sharma</a:t>
            </a: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9" name="TextBox 8">
            <a:extLst>
              <a:ext uri="{FF2B5EF4-FFF2-40B4-BE49-F238E27FC236}">
                <a16:creationId xmlns:a16="http://schemas.microsoft.com/office/drawing/2014/main" id="{654443AA-F0A5-90AA-A327-8FE62323305A}"/>
              </a:ext>
            </a:extLst>
          </p:cNvPr>
          <p:cNvSpPr txBox="1"/>
          <p:nvPr/>
        </p:nvSpPr>
        <p:spPr>
          <a:xfrm>
            <a:off x="6845379" y="5556087"/>
            <a:ext cx="2780125" cy="67710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all" spc="0" normalizeH="0" baseline="0" noProof="0" dirty="0">
                <a:ln>
                  <a:noFill/>
                </a:ln>
                <a:solidFill>
                  <a:prstClr val="white"/>
                </a:solidFill>
                <a:effectLst/>
                <a:uLnTx/>
                <a:uFillTx/>
                <a:latin typeface="Avenir Next LT Pro"/>
                <a:ea typeface="+mn-ea"/>
                <a:cs typeface="+mn-cs"/>
              </a:rPr>
              <a:t>Hanisha </a:t>
            </a:r>
            <a:r>
              <a:rPr kumimoji="0" lang="en-US" sz="1800" b="0" i="0" u="none" strike="noStrike" kern="1200" cap="all" spc="0" normalizeH="0" baseline="0" noProof="0" err="1">
                <a:ln>
                  <a:noFill/>
                </a:ln>
                <a:solidFill>
                  <a:prstClr val="white"/>
                </a:solidFill>
                <a:effectLst/>
                <a:uLnTx/>
                <a:uFillTx/>
                <a:latin typeface="Avenir Next LT Pro"/>
                <a:ea typeface="+mn-ea"/>
                <a:cs typeface="+mn-cs"/>
              </a:rPr>
              <a:t>Kasaraneni</a:t>
            </a:r>
            <a:endParaRPr kumimoji="0" lang="en-US" sz="1800" b="0" i="0" u="none" strike="noStrike" kern="1200" cap="none" spc="0" normalizeH="0" baseline="0" noProof="0">
              <a:ln>
                <a:noFill/>
              </a:ln>
              <a:solidFill>
                <a:srgbClr val="000000"/>
              </a:solidFill>
              <a:effectLst/>
              <a:uLnTx/>
              <a:uFillTx/>
              <a:latin typeface="Avenir Next LT Pr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3" name="Slide Number Placeholder 2">
            <a:extLst>
              <a:ext uri="{FF2B5EF4-FFF2-40B4-BE49-F238E27FC236}">
                <a16:creationId xmlns:a16="http://schemas.microsoft.com/office/drawing/2014/main" id="{09CC4A32-E570-2C62-20BA-926AF666E7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D77608-3819-479B-BB98-C216BA724EFE}" type="slidenum">
              <a:rPr kumimoji="0" lang="en-US" sz="1000" b="0" i="0" u="none" strike="noStrike" kern="1200" cap="none" spc="100" normalizeH="0" baseline="0" noProof="0" smtClean="0">
                <a:ln>
                  <a:noFill/>
                </a:ln>
                <a:solidFill>
                  <a:prstClr val="white"/>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100" normalizeH="0" baseline="0" noProof="0">
              <a:ln>
                <a:noFill/>
              </a:ln>
              <a:solidFill>
                <a:prstClr val="white"/>
              </a:solidFill>
              <a:effectLst/>
              <a:uLnTx/>
              <a:uFillTx/>
              <a:latin typeface="Avenir Next LT Pro"/>
              <a:ea typeface="+mn-ea"/>
              <a:cs typeface="+mn-cs"/>
            </a:endParaRPr>
          </a:p>
        </p:txBody>
      </p:sp>
    </p:spTree>
    <p:extLst>
      <p:ext uri="{BB962C8B-B14F-4D97-AF65-F5344CB8AC3E}">
        <p14:creationId xmlns:p14="http://schemas.microsoft.com/office/powerpoint/2010/main" val="3300255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7F832D9-9E09-40D4-AD67-47851A25D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3E057D84-280B-28A7-B375-B624A5E06BCE}"/>
              </a:ext>
            </a:extLst>
          </p:cNvPr>
          <p:cNvSpPr>
            <a:spLocks noGrp="1"/>
          </p:cNvSpPr>
          <p:nvPr>
            <p:ph type="title"/>
          </p:nvPr>
        </p:nvSpPr>
        <p:spPr>
          <a:xfrm>
            <a:off x="3845719" y="640250"/>
            <a:ext cx="4500561" cy="969311"/>
          </a:xfrm>
        </p:spPr>
        <p:txBody>
          <a:bodyPr anchor="t">
            <a:normAutofit/>
          </a:bodyPr>
          <a:lstStyle/>
          <a:p>
            <a:pPr algn="ctr"/>
            <a:r>
              <a:rPr lang="en-US" dirty="0"/>
              <a:t>Our Project</a:t>
            </a:r>
          </a:p>
        </p:txBody>
      </p:sp>
      <p:pic>
        <p:nvPicPr>
          <p:cNvPr id="5" name="Picture 4" descr="A white background with black text&#10;&#10;AI-generated content may be incorrect.">
            <a:extLst>
              <a:ext uri="{FF2B5EF4-FFF2-40B4-BE49-F238E27FC236}">
                <a16:creationId xmlns:a16="http://schemas.microsoft.com/office/drawing/2014/main" id="{FF20F56F-0663-9279-DD65-477B93283531}"/>
              </a:ext>
            </a:extLst>
          </p:cNvPr>
          <p:cNvPicPr>
            <a:picLocks noChangeAspect="1"/>
          </p:cNvPicPr>
          <p:nvPr/>
        </p:nvPicPr>
        <p:blipFill>
          <a:blip r:embed="rId3">
            <a:alphaModFix/>
          </a:blip>
          <a:stretch>
            <a:fillRect/>
          </a:stretch>
        </p:blipFill>
        <p:spPr>
          <a:xfrm>
            <a:off x="901063" y="2346999"/>
            <a:ext cx="10389870" cy="2164002"/>
          </a:xfrm>
          <a:prstGeom prst="rect">
            <a:avLst/>
          </a:prstGeom>
        </p:spPr>
      </p:pic>
      <p:pic>
        <p:nvPicPr>
          <p:cNvPr id="8" name="Picture 7">
            <a:extLst>
              <a:ext uri="{FF2B5EF4-FFF2-40B4-BE49-F238E27FC236}">
                <a16:creationId xmlns:a16="http://schemas.microsoft.com/office/drawing/2014/main" id="{ABC3868B-7728-4150-4713-695FFC4A9563}"/>
              </a:ext>
            </a:extLst>
          </p:cNvPr>
          <p:cNvPicPr>
            <a:picLocks noChangeAspect="1"/>
          </p:cNvPicPr>
          <p:nvPr/>
        </p:nvPicPr>
        <p:blipFill>
          <a:blip r:embed="rId4"/>
          <a:srcRect t="9997" b="-1"/>
          <a:stretch/>
        </p:blipFill>
        <p:spPr>
          <a:xfrm>
            <a:off x="2209798" y="5497417"/>
            <a:ext cx="7772400" cy="489875"/>
          </a:xfrm>
          <a:prstGeom prst="rect">
            <a:avLst/>
          </a:prstGeom>
        </p:spPr>
      </p:pic>
      <p:pic>
        <p:nvPicPr>
          <p:cNvPr id="11" name="Picture 10">
            <a:extLst>
              <a:ext uri="{FF2B5EF4-FFF2-40B4-BE49-F238E27FC236}">
                <a16:creationId xmlns:a16="http://schemas.microsoft.com/office/drawing/2014/main" id="{5EC01817-821E-711F-92C6-724B73006BA0}"/>
              </a:ext>
            </a:extLst>
          </p:cNvPr>
          <p:cNvPicPr>
            <a:picLocks noChangeAspect="1"/>
          </p:cNvPicPr>
          <p:nvPr/>
        </p:nvPicPr>
        <p:blipFill>
          <a:blip r:embed="rId5"/>
          <a:stretch>
            <a:fillRect/>
          </a:stretch>
        </p:blipFill>
        <p:spPr>
          <a:xfrm>
            <a:off x="2209798" y="5970593"/>
            <a:ext cx="7772400" cy="283028"/>
          </a:xfrm>
          <a:prstGeom prst="rect">
            <a:avLst/>
          </a:prstGeom>
        </p:spPr>
      </p:pic>
      <p:pic>
        <p:nvPicPr>
          <p:cNvPr id="13" name="Picture 12">
            <a:extLst>
              <a:ext uri="{FF2B5EF4-FFF2-40B4-BE49-F238E27FC236}">
                <a16:creationId xmlns:a16="http://schemas.microsoft.com/office/drawing/2014/main" id="{A8FBAD02-EAAA-2395-C32F-7AF25AB57F47}"/>
              </a:ext>
            </a:extLst>
          </p:cNvPr>
          <p:cNvPicPr>
            <a:picLocks noChangeAspect="1"/>
          </p:cNvPicPr>
          <p:nvPr/>
        </p:nvPicPr>
        <p:blipFill>
          <a:blip r:embed="rId6"/>
          <a:stretch>
            <a:fillRect/>
          </a:stretch>
        </p:blipFill>
        <p:spPr>
          <a:xfrm>
            <a:off x="2209798" y="6253621"/>
            <a:ext cx="7772400" cy="283028"/>
          </a:xfrm>
          <a:prstGeom prst="rect">
            <a:avLst/>
          </a:prstGeom>
        </p:spPr>
      </p:pic>
      <p:sp>
        <p:nvSpPr>
          <p:cNvPr id="14" name="TextBox 13">
            <a:extLst>
              <a:ext uri="{FF2B5EF4-FFF2-40B4-BE49-F238E27FC236}">
                <a16:creationId xmlns:a16="http://schemas.microsoft.com/office/drawing/2014/main" id="{06F2DED4-9E82-FC59-2C67-C15572759161}"/>
              </a:ext>
            </a:extLst>
          </p:cNvPr>
          <p:cNvSpPr txBox="1"/>
          <p:nvPr/>
        </p:nvSpPr>
        <p:spPr>
          <a:xfrm>
            <a:off x="3051673" y="5990498"/>
            <a:ext cx="66101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Avenir Next LT Pro"/>
                <a:ea typeface="+mn-ea"/>
                <a:cs typeface="+mn-cs"/>
              </a:rPr>
              <a:t>KVASIR</a:t>
            </a:r>
          </a:p>
        </p:txBody>
      </p:sp>
      <p:sp>
        <p:nvSpPr>
          <p:cNvPr id="15" name="TextBox 14">
            <a:extLst>
              <a:ext uri="{FF2B5EF4-FFF2-40B4-BE49-F238E27FC236}">
                <a16:creationId xmlns:a16="http://schemas.microsoft.com/office/drawing/2014/main" id="{C0500B15-F2A9-A144-B9F2-9223779399D0}"/>
              </a:ext>
            </a:extLst>
          </p:cNvPr>
          <p:cNvSpPr txBox="1"/>
          <p:nvPr/>
        </p:nvSpPr>
        <p:spPr>
          <a:xfrm>
            <a:off x="3062690" y="6273729"/>
            <a:ext cx="78302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rgbClr val="FF0000"/>
                </a:solidFill>
                <a:effectLst/>
                <a:uLnTx/>
                <a:uFillTx/>
                <a:latin typeface="Avenir Next LT Pro"/>
                <a:ea typeface="+mn-ea"/>
                <a:cs typeface="+mn-cs"/>
              </a:rPr>
              <a:t>ClinicDB</a:t>
            </a:r>
            <a:endParaRPr kumimoji="0" lang="en-US" sz="1000" b="0" i="0" u="none" strike="noStrike" kern="1200" cap="none" spc="0" normalizeH="0" baseline="0" noProof="0">
              <a:ln>
                <a:noFill/>
              </a:ln>
              <a:solidFill>
                <a:srgbClr val="FF0000"/>
              </a:solidFill>
              <a:effectLst/>
              <a:uLnTx/>
              <a:uFillTx/>
              <a:latin typeface="Avenir Next LT Pro"/>
              <a:ea typeface="+mn-ea"/>
              <a:cs typeface="+mn-cs"/>
            </a:endParaRPr>
          </a:p>
        </p:txBody>
      </p:sp>
      <p:sp>
        <p:nvSpPr>
          <p:cNvPr id="3" name="Slide Number Placeholder 2">
            <a:extLst>
              <a:ext uri="{FF2B5EF4-FFF2-40B4-BE49-F238E27FC236}">
                <a16:creationId xmlns:a16="http://schemas.microsoft.com/office/drawing/2014/main" id="{6E8408A7-F6B2-48EC-F627-E2AC1DB94F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D77608-3819-479B-BB98-C216BA724EFE}" type="slidenum">
              <a:rPr kumimoji="0" lang="en-US" sz="1000" b="0" i="0" u="none" strike="noStrike" kern="1200" cap="none" spc="100" normalizeH="0" baseline="0" noProof="0" smtClean="0">
                <a:ln>
                  <a:noFill/>
                </a:ln>
                <a:solidFill>
                  <a:prstClr val="white"/>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100" normalizeH="0" baseline="0" noProof="0">
              <a:ln>
                <a:noFill/>
              </a:ln>
              <a:solidFill>
                <a:prstClr val="white"/>
              </a:solidFill>
              <a:effectLst/>
              <a:uLnTx/>
              <a:uFillTx/>
              <a:latin typeface="Avenir Next LT Pro"/>
              <a:ea typeface="+mn-ea"/>
              <a:cs typeface="+mn-cs"/>
            </a:endParaRPr>
          </a:p>
        </p:txBody>
      </p:sp>
    </p:spTree>
    <p:extLst>
      <p:ext uri="{BB962C8B-B14F-4D97-AF65-F5344CB8AC3E}">
        <p14:creationId xmlns:p14="http://schemas.microsoft.com/office/powerpoint/2010/main" val="3100621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6" name="Rectangle 4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1DE20-4125-69B0-0C42-F977AFFBEEA6}"/>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GB" sz="4000" dirty="0"/>
              <a:t>Recap – Paper’s </a:t>
            </a:r>
            <a:r>
              <a:rPr lang="en-US" sz="4000" kern="1200" dirty="0">
                <a:latin typeface="+mj-lt"/>
                <a:ea typeface="+mj-ea"/>
                <a:cs typeface="+mj-cs"/>
              </a:rPr>
              <a:t>Architecture</a:t>
            </a:r>
          </a:p>
        </p:txBody>
      </p:sp>
      <p:sp>
        <p:nvSpPr>
          <p:cNvPr id="5" name="Rectangle 1">
            <a:extLst>
              <a:ext uri="{FF2B5EF4-FFF2-40B4-BE49-F238E27FC236}">
                <a16:creationId xmlns:a16="http://schemas.microsoft.com/office/drawing/2014/main" id="{7052490D-C723-8C12-77CA-C67FDB8CF497}"/>
              </a:ext>
            </a:extLst>
          </p:cNvPr>
          <p:cNvSpPr>
            <a:spLocks noGrp="1" noChangeArrowheads="1"/>
          </p:cNvSpPr>
          <p:nvPr>
            <p:ph idx="1"/>
          </p:nvPr>
        </p:nvSpPr>
        <p:spPr bwMode="auto">
          <a:xfrm>
            <a:off x="761802" y="2743200"/>
            <a:ext cx="4646905"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itchFamily="2" charset="2"/>
              <a:buChar char="Ø"/>
              <a:tabLst/>
            </a:pPr>
            <a:r>
              <a:rPr kumimoji="0" lang="en-DE" altLang="en-DE" sz="2000" b="1" i="0" u="none" strike="noStrike" cap="none" normalizeH="0" baseline="0">
                <a:ln>
                  <a:noFill/>
                </a:ln>
                <a:effectLst/>
                <a:latin typeface="Arial" panose="020B0604020202020204" pitchFamily="34" charset="0"/>
              </a:rPr>
              <a:t>Input:</a:t>
            </a:r>
            <a:r>
              <a:rPr kumimoji="0" lang="en-DE" altLang="en-DE" sz="2000" b="0" i="0" u="none" strike="noStrike" cap="none" normalizeH="0" baseline="0">
                <a:ln>
                  <a:noFill/>
                </a:ln>
                <a:effectLst/>
                <a:latin typeface="Arial" panose="020B0604020202020204" pitchFamily="34" charset="0"/>
              </a:rPr>
              <a:t> RGB image</a:t>
            </a:r>
            <a:r>
              <a:rPr kumimoji="0" lang="en-US" altLang="en-DE" sz="2000" b="0" i="0" u="none" strike="noStrike" cap="none" normalizeH="0" baseline="0">
                <a:ln>
                  <a:noFill/>
                </a:ln>
                <a:effectLst/>
                <a:latin typeface="Arial" panose="020B0604020202020204" pitchFamily="34" charset="0"/>
              </a:rPr>
              <a:t> </a:t>
            </a:r>
          </a:p>
          <a:p>
            <a:pPr marR="0" lvl="0" defTabSz="914400" rtl="0" eaLnBrk="0" fontAlgn="base" latinLnBrk="0" hangingPunct="0">
              <a:spcBef>
                <a:spcPct val="0"/>
              </a:spcBef>
              <a:spcAft>
                <a:spcPts val="600"/>
              </a:spcAft>
              <a:buClrTx/>
              <a:buSzTx/>
              <a:buFont typeface="Wingdings" pitchFamily="2" charset="2"/>
              <a:buChar char="Ø"/>
              <a:tabLst/>
            </a:pPr>
            <a:r>
              <a:rPr kumimoji="0" lang="en-DE" altLang="en-DE" sz="2000" b="1" i="0" u="none" strike="noStrike" cap="none" normalizeH="0" baseline="0">
                <a:ln>
                  <a:noFill/>
                </a:ln>
                <a:effectLst/>
                <a:latin typeface="Arial" panose="020B0604020202020204" pitchFamily="34" charset="0"/>
              </a:rPr>
              <a:t>Encoders:</a:t>
            </a:r>
            <a:r>
              <a:rPr kumimoji="0" lang="en-DE" altLang="en-DE" sz="2000" b="0" i="0" u="none" strike="noStrike" cap="none" normalizeH="0" baseline="0">
                <a:ln>
                  <a:noFill/>
                </a:ln>
                <a:effectLst/>
                <a:latin typeface="Arial" panose="020B0604020202020204" pitchFamily="34" charset="0"/>
              </a:rPr>
              <a:t> EfficientNet + Swin Transformer (in</a:t>
            </a:r>
            <a:r>
              <a:rPr kumimoji="0" lang="en-GB" altLang="en-DE" sz="2000" b="0" i="0" u="none" strike="noStrike" cap="none" normalizeH="0" baseline="0">
                <a:ln>
                  <a:noFill/>
                </a:ln>
                <a:effectLst/>
                <a:latin typeface="Arial" panose="020B0604020202020204" pitchFamily="34" charset="0"/>
              </a:rPr>
              <a:t> </a:t>
            </a:r>
            <a:r>
              <a:rPr kumimoji="0" lang="en-DE" altLang="en-DE" sz="2000" b="0" i="0" u="none" strike="noStrike" cap="none" normalizeH="0" baseline="0">
                <a:ln>
                  <a:noFill/>
                </a:ln>
                <a:effectLst/>
                <a:latin typeface="Arial" panose="020B0604020202020204" pitchFamily="34" charset="0"/>
              </a:rPr>
              <a:t>parallel)</a:t>
            </a:r>
            <a:endParaRPr kumimoji="0" lang="en-US" altLang="en-DE" sz="2000" b="0" i="0" u="none" strike="noStrike" cap="none" normalizeH="0" baseline="0">
              <a:ln>
                <a:noFill/>
              </a:ln>
              <a:effectLst/>
              <a:latin typeface="Arial" panose="020B0604020202020204" pitchFamily="34" charset="0"/>
            </a:endParaRPr>
          </a:p>
          <a:p>
            <a:pPr lvl="0" eaLnBrk="0" fontAlgn="base" hangingPunct="0">
              <a:spcBef>
                <a:spcPct val="0"/>
              </a:spcBef>
              <a:spcAft>
                <a:spcPts val="600"/>
              </a:spcAft>
              <a:buFont typeface="Wingdings" pitchFamily="2" charset="2"/>
              <a:buChar char="Ø"/>
            </a:pPr>
            <a:r>
              <a:rPr kumimoji="0" lang="en-DE" altLang="en-DE" sz="2000" b="1" i="0" u="none" strike="noStrike" cap="none" normalizeH="0" baseline="0">
                <a:ln>
                  <a:noFill/>
                </a:ln>
                <a:effectLst/>
                <a:latin typeface="Arial" panose="020B0604020202020204" pitchFamily="34" charset="0"/>
              </a:rPr>
              <a:t>Feature Refinement:</a:t>
            </a:r>
            <a:r>
              <a:rPr kumimoji="0" lang="en-DE" altLang="en-DE" sz="2000" b="0" i="0" u="none" strike="noStrike" cap="none" normalizeH="0" baseline="0">
                <a:ln>
                  <a:noFill/>
                </a:ln>
                <a:effectLst/>
                <a:latin typeface="Arial" panose="020B0604020202020204" pitchFamily="34" charset="0"/>
              </a:rPr>
              <a:t> Multi-Dilation </a:t>
            </a:r>
            <a:r>
              <a:rPr lang="en-DE" altLang="en-DE" sz="2000">
                <a:latin typeface="Arial" panose="020B0604020202020204" pitchFamily="34" charset="0"/>
              </a:rPr>
              <a:t>Convolution</a:t>
            </a:r>
            <a:endParaRPr lang="en-US" altLang="en-DE" sz="2000">
              <a:latin typeface="Arial" panose="020B0604020202020204" pitchFamily="34" charset="0"/>
            </a:endParaRPr>
          </a:p>
          <a:p>
            <a:pPr marR="0" lvl="0" defTabSz="914400" rtl="0" eaLnBrk="0" fontAlgn="base" latinLnBrk="0" hangingPunct="0">
              <a:spcBef>
                <a:spcPct val="0"/>
              </a:spcBef>
              <a:spcAft>
                <a:spcPts val="600"/>
              </a:spcAft>
              <a:buClrTx/>
              <a:buSzTx/>
              <a:buFont typeface="Wingdings" pitchFamily="2" charset="2"/>
              <a:buChar char="Ø"/>
              <a:tabLst/>
            </a:pPr>
            <a:r>
              <a:rPr kumimoji="0" lang="en-DE" altLang="en-DE" sz="2000" b="1" i="0" u="none" strike="noStrike" cap="none" normalizeH="0" baseline="0">
                <a:ln>
                  <a:noFill/>
                </a:ln>
                <a:effectLst/>
                <a:latin typeface="Arial" panose="020B0604020202020204" pitchFamily="34" charset="0"/>
              </a:rPr>
              <a:t>Fusion &amp; Supervision:</a:t>
            </a:r>
            <a:r>
              <a:rPr kumimoji="0" lang="en-DE" altLang="en-DE" sz="2000" b="0" i="0" u="none" strike="noStrike" cap="none" normalizeH="0" baseline="0">
                <a:ln>
                  <a:noFill/>
                </a:ln>
                <a:effectLst/>
                <a:latin typeface="Arial" panose="020B0604020202020204" pitchFamily="34" charset="0"/>
              </a:rPr>
              <a:t> Multi-Feature Aggregation + side outputs</a:t>
            </a:r>
            <a:endParaRPr kumimoji="0" lang="en-US" altLang="en-DE" sz="2000" b="0" i="0" u="none" strike="noStrike" cap="none" normalizeH="0" baseline="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itchFamily="2" charset="2"/>
              <a:buChar char="Ø"/>
              <a:tabLst/>
            </a:pPr>
            <a:r>
              <a:rPr kumimoji="0" lang="en-DE" altLang="en-DE" sz="2000" b="1" i="0" u="none" strike="noStrike" cap="none" normalizeH="0" baseline="0">
                <a:ln>
                  <a:noFill/>
                </a:ln>
                <a:effectLst/>
                <a:latin typeface="Arial" panose="020B0604020202020204" pitchFamily="34" charset="0"/>
              </a:rPr>
              <a:t>Decoding:</a:t>
            </a:r>
            <a:r>
              <a:rPr kumimoji="0" lang="en-DE" altLang="en-DE" sz="2000" b="0" i="0" u="none" strike="noStrike" cap="none" normalizeH="0" baseline="0">
                <a:ln>
                  <a:noFill/>
                </a:ln>
                <a:effectLst/>
                <a:latin typeface="Arial" panose="020B0604020202020204" pitchFamily="34" charset="0"/>
              </a:rPr>
              <a:t> Attention + Inception-Res blocks → upsample</a:t>
            </a:r>
            <a:endParaRPr lang="en-US" altLang="en-DE" sz="2000">
              <a:latin typeface="Arial" panose="020B0604020202020204" pitchFamily="34" charset="0"/>
            </a:endParaRPr>
          </a:p>
          <a:p>
            <a:pPr marR="0" lvl="0" defTabSz="914400" rtl="0" eaLnBrk="0" fontAlgn="base" latinLnBrk="0" hangingPunct="0">
              <a:spcBef>
                <a:spcPct val="0"/>
              </a:spcBef>
              <a:spcAft>
                <a:spcPts val="600"/>
              </a:spcAft>
              <a:buClrTx/>
              <a:buSzTx/>
              <a:buFont typeface="Wingdings" pitchFamily="2" charset="2"/>
              <a:buChar char="Ø"/>
              <a:tabLst/>
            </a:pPr>
            <a:r>
              <a:rPr kumimoji="0" lang="en-DE" altLang="en-DE" sz="2000" b="1" i="0" u="none" strike="noStrike" cap="none" normalizeH="0" baseline="0">
                <a:ln>
                  <a:noFill/>
                </a:ln>
                <a:effectLst/>
                <a:latin typeface="Arial" panose="020B0604020202020204" pitchFamily="34" charset="0"/>
              </a:rPr>
              <a:t>Output:</a:t>
            </a:r>
            <a:r>
              <a:rPr kumimoji="0" lang="en-DE" altLang="en-DE" sz="2000" b="0" i="0" u="none" strike="noStrike" cap="none" normalizeH="0" baseline="0">
                <a:ln>
                  <a:noFill/>
                </a:ln>
                <a:effectLst/>
                <a:latin typeface="Arial" panose="020B0604020202020204" pitchFamily="34" charset="0"/>
              </a:rPr>
              <a:t> Final segmentation mask</a:t>
            </a:r>
          </a:p>
        </p:txBody>
      </p:sp>
      <p:pic>
        <p:nvPicPr>
          <p:cNvPr id="4" name="Content Placeholder 3">
            <a:extLst>
              <a:ext uri="{FF2B5EF4-FFF2-40B4-BE49-F238E27FC236}">
                <a16:creationId xmlns:a16="http://schemas.microsoft.com/office/drawing/2014/main" id="{935E55BF-47D4-0C9A-A53A-EDD17332E42A}"/>
              </a:ext>
            </a:extLst>
          </p:cNvPr>
          <p:cNvPicPr>
            <a:picLocks noChangeAspect="1"/>
          </p:cNvPicPr>
          <p:nvPr/>
        </p:nvPicPr>
        <p:blipFill rotWithShape="1">
          <a:blip r:embed="rId3"/>
          <a:srcRect l="10509" r="7176" b="-1"/>
          <a:stretch>
            <a:fillRect/>
          </a:stretch>
        </p:blipFill>
        <p:spPr>
          <a:xfrm>
            <a:off x="6096000" y="1"/>
            <a:ext cx="6102825" cy="6858000"/>
          </a:xfrm>
          <a:prstGeom prst="rect">
            <a:avLst/>
          </a:prstGeom>
        </p:spPr>
      </p:pic>
      <p:sp>
        <p:nvSpPr>
          <p:cNvPr id="3" name="Slide Number Placeholder 2">
            <a:extLst>
              <a:ext uri="{FF2B5EF4-FFF2-40B4-BE49-F238E27FC236}">
                <a16:creationId xmlns:a16="http://schemas.microsoft.com/office/drawing/2014/main" id="{17052AAE-8184-6EFE-99ED-86C2D51066FF}"/>
              </a:ext>
            </a:extLst>
          </p:cNvPr>
          <p:cNvSpPr>
            <a:spLocks noGrp="1"/>
          </p:cNvSpPr>
          <p:nvPr>
            <p:ph type="sldNum" sz="quarter" idx="12"/>
          </p:nvPr>
        </p:nvSpPr>
        <p:spPr>
          <a:xfrm>
            <a:off x="8732520" y="6356350"/>
            <a:ext cx="32004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A5BB907-1EFC-4F5C-91C1-C9A19A265869}" type="slidenum">
              <a:rPr kumimoji="0" lang="en-DE"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defTabSz="914400" rtl="0" eaLnBrk="1" fontAlgn="auto" latinLnBrk="0" hangingPunct="1">
                <a:spcBef>
                  <a:spcPts val="0"/>
                </a:spcBef>
                <a:spcAft>
                  <a:spcPts val="600"/>
                </a:spcAft>
                <a:buClrTx/>
                <a:buSzTx/>
                <a:buFontTx/>
                <a:buNone/>
                <a:tabLst/>
                <a:defRPr/>
              </a:pPr>
              <a:t>4</a:t>
            </a:fld>
            <a:endParaRPr kumimoji="0" lang="en-DE"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8391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274EB-882F-F7E5-7EAD-5E77DFE35D0C}"/>
              </a:ext>
            </a:extLst>
          </p:cNvPr>
          <p:cNvSpPr>
            <a:spLocks noGrp="1"/>
          </p:cNvSpPr>
          <p:nvPr>
            <p:ph type="title"/>
          </p:nvPr>
        </p:nvSpPr>
        <p:spPr/>
        <p:txBody>
          <a:bodyPr/>
          <a:lstStyle/>
          <a:p>
            <a:r>
              <a:rPr lang="en-US" dirty="0"/>
              <a:t>Dataset</a:t>
            </a:r>
          </a:p>
        </p:txBody>
      </p:sp>
      <p:graphicFrame>
        <p:nvGraphicFramePr>
          <p:cNvPr id="9" name="Content Placeholder 8">
            <a:extLst>
              <a:ext uri="{FF2B5EF4-FFF2-40B4-BE49-F238E27FC236}">
                <a16:creationId xmlns:a16="http://schemas.microsoft.com/office/drawing/2014/main" id="{DA6E98D1-B0C4-99C4-165F-3136122F6371}"/>
              </a:ext>
            </a:extLst>
          </p:cNvPr>
          <p:cNvGraphicFramePr>
            <a:graphicFrameLocks noGrp="1"/>
          </p:cNvGraphicFramePr>
          <p:nvPr>
            <p:ph idx="1"/>
            <p:extLst>
              <p:ext uri="{D42A27DB-BD31-4B8C-83A1-F6EECF244321}">
                <p14:modId xmlns:p14="http://schemas.microsoft.com/office/powerpoint/2010/main" val="2318149457"/>
              </p:ext>
            </p:extLst>
          </p:nvPr>
        </p:nvGraphicFramePr>
        <p:xfrm>
          <a:off x="838200" y="2126774"/>
          <a:ext cx="10515600" cy="3200400"/>
        </p:xfrm>
        <a:graphic>
          <a:graphicData uri="http://schemas.openxmlformats.org/drawingml/2006/table">
            <a:tbl>
              <a:tblPr>
                <a:tableStyleId>{2D5ABB26-0587-4C30-8999-92F81FD0307C}</a:tableStyleId>
              </a:tblPr>
              <a:tblGrid>
                <a:gridCol w="2090351">
                  <a:extLst>
                    <a:ext uri="{9D8B030D-6E8A-4147-A177-3AD203B41FA5}">
                      <a16:colId xmlns:a16="http://schemas.microsoft.com/office/drawing/2014/main" val="2081122613"/>
                    </a:ext>
                  </a:extLst>
                </a:gridCol>
                <a:gridCol w="4300152">
                  <a:extLst>
                    <a:ext uri="{9D8B030D-6E8A-4147-A177-3AD203B41FA5}">
                      <a16:colId xmlns:a16="http://schemas.microsoft.com/office/drawing/2014/main" val="3361186371"/>
                    </a:ext>
                  </a:extLst>
                </a:gridCol>
                <a:gridCol w="4125097">
                  <a:extLst>
                    <a:ext uri="{9D8B030D-6E8A-4147-A177-3AD203B41FA5}">
                      <a16:colId xmlns:a16="http://schemas.microsoft.com/office/drawing/2014/main" val="2125312433"/>
                    </a:ext>
                  </a:extLst>
                </a:gridCol>
              </a:tblGrid>
              <a:tr h="0">
                <a:tc>
                  <a:txBody>
                    <a:bodyPr/>
                    <a:lstStyle/>
                    <a:p>
                      <a:r>
                        <a:rPr lang="en-US"/>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Kvasir-SEG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ClinicDB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8139181"/>
                  </a:ext>
                </a:extLst>
              </a:tr>
              <a:tr h="0">
                <a:tc>
                  <a:txBody>
                    <a:bodyPr/>
                    <a:lstStyle/>
                    <a:p>
                      <a:r>
                        <a:rPr lang="en-US"/>
                        <a:t>Number of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Approx. 612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2875725"/>
                  </a:ext>
                </a:extLst>
              </a:tr>
              <a:tr h="0">
                <a:tc>
                  <a:txBody>
                    <a:bodyPr/>
                    <a:lstStyle/>
                    <a:p>
                      <a:r>
                        <a:rPr lang="en-US"/>
                        <a:t>Image resolution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Varies from 332×487 to 1920×1072 pixels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384×288 pixels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4610310"/>
                  </a:ext>
                </a:extLst>
              </a:tr>
              <a:tr h="0">
                <a:tc>
                  <a:txBody>
                    <a:bodyPr/>
                    <a:lstStyle/>
                    <a:p>
                      <a:r>
                        <a:rPr lang="en-US"/>
                        <a:t>Annotation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Pixel-level segmentation masks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Pixel-level segmentation masks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00973886"/>
                  </a:ext>
                </a:extLst>
              </a:tr>
              <a:tr h="0">
                <a:tc>
                  <a:txBody>
                    <a:bodyPr/>
                    <a:lstStyle/>
                    <a:p>
                      <a:r>
                        <a:rPr lang="en-US"/>
                        <a:t>Content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Gastrointestinal polyp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Endoscopy images from clinical practice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1430364"/>
                  </a:ext>
                </a:extLst>
              </a:tr>
              <a:tr h="0">
                <a:tc>
                  <a:txBody>
                    <a:bodyPr/>
                    <a:lstStyle/>
                    <a:p>
                      <a:r>
                        <a:rPr lang="en-US"/>
                        <a:t>Data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Public research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Clinical 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3064990"/>
                  </a:ext>
                </a:extLst>
              </a:tr>
              <a:tr h="0">
                <a:tc>
                  <a:txBody>
                    <a:bodyPr/>
                    <a:lstStyle/>
                    <a:p>
                      <a:r>
                        <a:rPr lang="en-US"/>
                        <a:t>Image 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JPEG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8411932"/>
                  </a:ext>
                </a:extLst>
              </a:tr>
              <a:tr h="0">
                <a:tc>
                  <a:txBody>
                    <a:bodyPr/>
                    <a:lstStyle/>
                    <a:p>
                      <a:r>
                        <a:rPr lang="en-US"/>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Variability in polyp size and shape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Lighting variation, occlusions,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6255337"/>
                  </a:ext>
                </a:extLst>
              </a:tr>
            </a:tbl>
          </a:graphicData>
        </a:graphic>
      </p:graphicFrame>
      <p:sp>
        <p:nvSpPr>
          <p:cNvPr id="4" name="Slide Number Placeholder 3">
            <a:extLst>
              <a:ext uri="{FF2B5EF4-FFF2-40B4-BE49-F238E27FC236}">
                <a16:creationId xmlns:a16="http://schemas.microsoft.com/office/drawing/2014/main" id="{4508F89D-98C1-7169-77BF-FA838A2B07BD}"/>
              </a:ext>
            </a:extLst>
          </p:cNvPr>
          <p:cNvSpPr>
            <a:spLocks noGrp="1"/>
          </p:cNvSpPr>
          <p:nvPr>
            <p:ph type="sldNum" sz="quarter" idx="12"/>
          </p:nvPr>
        </p:nvSpPr>
        <p:spPr/>
        <p:txBody>
          <a:bodyPr/>
          <a:lstStyle/>
          <a:p>
            <a:fld id="{1A5BB907-1EFC-4F5C-91C1-C9A19A265869}" type="slidenum">
              <a:rPr lang="en-DE" smtClean="0"/>
              <a:t>5</a:t>
            </a:fld>
            <a:endParaRPr lang="en-DE"/>
          </a:p>
        </p:txBody>
      </p:sp>
    </p:spTree>
    <p:extLst>
      <p:ext uri="{BB962C8B-B14F-4D97-AF65-F5344CB8AC3E}">
        <p14:creationId xmlns:p14="http://schemas.microsoft.com/office/powerpoint/2010/main" val="1194193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8FC7423-8E6C-B619-6C77-ADF2FDAF7AF4}"/>
              </a:ext>
            </a:extLst>
          </p:cNvPr>
          <p:cNvSpPr>
            <a:spLocks noGrp="1"/>
          </p:cNvSpPr>
          <p:nvPr>
            <p:ph type="title"/>
          </p:nvPr>
        </p:nvSpPr>
        <p:spPr>
          <a:xfrm>
            <a:off x="726991" y="2528737"/>
            <a:ext cx="3888526" cy="1800526"/>
          </a:xfrm>
        </p:spPr>
        <p:txBody>
          <a:bodyPr>
            <a:normAutofit/>
          </a:bodyPr>
          <a:lstStyle/>
          <a:p>
            <a:r>
              <a:rPr lang="en-US" dirty="0"/>
              <a:t>Implementation </a:t>
            </a:r>
            <a:r>
              <a:rPr lang="en-US" dirty="0" err="1"/>
              <a:t>SwinE</a:t>
            </a:r>
            <a:r>
              <a:rPr lang="en-US" dirty="0"/>
              <a:t>-Net</a:t>
            </a:r>
          </a:p>
        </p:txBody>
      </p:sp>
      <p:sp>
        <p:nvSpPr>
          <p:cNvPr id="4" name="Slide Number Placeholder 3">
            <a:extLst>
              <a:ext uri="{FF2B5EF4-FFF2-40B4-BE49-F238E27FC236}">
                <a16:creationId xmlns:a16="http://schemas.microsoft.com/office/drawing/2014/main" id="{4AC1D5A6-160A-B790-5F48-69A47AF6D0FB}"/>
              </a:ext>
            </a:extLst>
          </p:cNvPr>
          <p:cNvSpPr>
            <a:spLocks noGrp="1"/>
          </p:cNvSpPr>
          <p:nvPr>
            <p:ph type="sldNum" sz="quarter" idx="12"/>
          </p:nvPr>
        </p:nvSpPr>
        <p:spPr>
          <a:xfrm>
            <a:off x="8610600" y="6356350"/>
            <a:ext cx="2743200" cy="365125"/>
          </a:xfrm>
        </p:spPr>
        <p:txBody>
          <a:bodyPr>
            <a:normAutofit/>
          </a:bodyPr>
          <a:lstStyle/>
          <a:p>
            <a:pPr>
              <a:spcAft>
                <a:spcPts val="600"/>
              </a:spcAft>
            </a:pPr>
            <a:fld id="{1A5BB907-1EFC-4F5C-91C1-C9A19A265869}" type="slidenum">
              <a:rPr lang="en-DE" smtClean="0"/>
              <a:pPr>
                <a:spcAft>
                  <a:spcPts val="600"/>
                </a:spcAft>
              </a:pPr>
              <a:t>6</a:t>
            </a:fld>
            <a:endParaRPr lang="en-DE"/>
          </a:p>
        </p:txBody>
      </p:sp>
      <p:grpSp>
        <p:nvGrpSpPr>
          <p:cNvPr id="5" name="Group 4">
            <a:extLst>
              <a:ext uri="{FF2B5EF4-FFF2-40B4-BE49-F238E27FC236}">
                <a16:creationId xmlns:a16="http://schemas.microsoft.com/office/drawing/2014/main" id="{388B8094-F2E9-C4F3-5140-7BC21B333E61}"/>
              </a:ext>
            </a:extLst>
          </p:cNvPr>
          <p:cNvGrpSpPr/>
          <p:nvPr/>
        </p:nvGrpSpPr>
        <p:grpSpPr>
          <a:xfrm>
            <a:off x="6229218" y="434715"/>
            <a:ext cx="5702952" cy="5850781"/>
            <a:chOff x="3433765" y="432486"/>
            <a:chExt cx="5683462" cy="5869108"/>
          </a:xfrm>
        </p:grpSpPr>
        <p:pic>
          <p:nvPicPr>
            <p:cNvPr id="6" name="Picture 5">
              <a:extLst>
                <a:ext uri="{FF2B5EF4-FFF2-40B4-BE49-F238E27FC236}">
                  <a16:creationId xmlns:a16="http://schemas.microsoft.com/office/drawing/2014/main" id="{902FE3B2-283E-6498-2EB4-4E22FE95CB5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33765" y="432486"/>
              <a:ext cx="5683462" cy="5570852"/>
            </a:xfrm>
            <a:prstGeom prst="rect">
              <a:avLst/>
            </a:prstGeom>
            <a:ln>
              <a:solidFill>
                <a:schemeClr val="tx1"/>
              </a:solidFill>
            </a:ln>
          </p:spPr>
        </p:pic>
        <p:sp>
          <p:nvSpPr>
            <p:cNvPr id="7" name="TextBox 6">
              <a:extLst>
                <a:ext uri="{FF2B5EF4-FFF2-40B4-BE49-F238E27FC236}">
                  <a16:creationId xmlns:a16="http://schemas.microsoft.com/office/drawing/2014/main" id="{9132FDDF-BD1D-D1FB-2D25-BF1A8E8955DF}"/>
                </a:ext>
              </a:extLst>
            </p:cNvPr>
            <p:cNvSpPr txBox="1"/>
            <p:nvPr/>
          </p:nvSpPr>
          <p:spPr>
            <a:xfrm>
              <a:off x="4263188" y="6003338"/>
              <a:ext cx="4037199" cy="298256"/>
            </a:xfrm>
            <a:prstGeom prst="rect">
              <a:avLst/>
            </a:prstGeom>
            <a:noFill/>
          </p:spPr>
          <p:txBody>
            <a:bodyPr wrap="none" rtlCol="0">
              <a:spAutoFit/>
            </a:bodyPr>
            <a:lstStyle/>
            <a:p>
              <a:pPr algn="ctr" defTabSz="676656">
                <a:spcAft>
                  <a:spcPts val="600"/>
                </a:spcAft>
              </a:pPr>
              <a:r>
                <a:rPr lang="en-US" sz="1332" kern="1200" dirty="0">
                  <a:solidFill>
                    <a:schemeClr val="tx1"/>
                  </a:solidFill>
                  <a:latin typeface="+mn-lt"/>
                  <a:ea typeface="+mn-ea"/>
                  <a:cs typeface="+mn-cs"/>
                </a:rPr>
                <a:t>Figure: Architecture Diagram of New Implementation</a:t>
              </a:r>
              <a:endParaRPr lang="en-US" dirty="0"/>
            </a:p>
          </p:txBody>
        </p:sp>
      </p:grpSp>
    </p:spTree>
    <p:extLst>
      <p:ext uri="{BB962C8B-B14F-4D97-AF65-F5344CB8AC3E}">
        <p14:creationId xmlns:p14="http://schemas.microsoft.com/office/powerpoint/2010/main" val="3224786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8" name="Rectangle 103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a:xfrm>
            <a:off x="1295400" y="669925"/>
            <a:ext cx="4800600" cy="1325563"/>
          </a:xfrm>
        </p:spPr>
        <p:txBody>
          <a:bodyPr anchor="b">
            <a:normAutofit/>
          </a:bodyPr>
          <a:lstStyle/>
          <a:p>
            <a:pPr>
              <a:lnSpc>
                <a:spcPct val="90000"/>
              </a:lnSpc>
            </a:pPr>
            <a:r>
              <a:rPr lang="en-GB">
                <a:solidFill>
                  <a:schemeClr val="bg1"/>
                </a:solidFill>
              </a:rPr>
              <a:t>Key Differences in Architecture</a:t>
            </a:r>
          </a:p>
        </p:txBody>
      </p:sp>
      <p:cxnSp>
        <p:nvCxnSpPr>
          <p:cNvPr id="1040" name="Straight Connector 103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260336" y="2555532"/>
            <a:ext cx="4800600" cy="3711571"/>
          </a:xfrm>
        </p:spPr>
        <p:txBody>
          <a:bodyPr>
            <a:normAutofit/>
          </a:bodyPr>
          <a:lstStyle/>
          <a:p>
            <a:endParaRPr lang="en-GB" sz="2000" dirty="0">
              <a:solidFill>
                <a:schemeClr val="bg1"/>
              </a:solidFill>
            </a:endParaRPr>
          </a:p>
          <a:p>
            <a:r>
              <a:rPr lang="en-GB" sz="2000" dirty="0">
                <a:solidFill>
                  <a:schemeClr val="bg1"/>
                </a:solidFill>
              </a:rPr>
              <a:t>We used </a:t>
            </a:r>
            <a:r>
              <a:rPr lang="en-GB" sz="2000" dirty="0" err="1">
                <a:solidFill>
                  <a:schemeClr val="bg1"/>
                </a:solidFill>
              </a:rPr>
              <a:t>Albumentations</a:t>
            </a:r>
            <a:r>
              <a:rPr lang="en-GB" sz="2000" dirty="0">
                <a:solidFill>
                  <a:schemeClr val="bg1"/>
                </a:solidFill>
              </a:rPr>
              <a:t> for image augmentation, including flips, rotations, brightness adjustments, </a:t>
            </a:r>
            <a:r>
              <a:rPr lang="en-GB" sz="2000" dirty="0" err="1">
                <a:solidFill>
                  <a:schemeClr val="bg1"/>
                </a:solidFill>
              </a:rPr>
              <a:t>CutMix</a:t>
            </a:r>
            <a:r>
              <a:rPr lang="en-GB" sz="2000" dirty="0">
                <a:solidFill>
                  <a:schemeClr val="bg1"/>
                </a:solidFill>
              </a:rPr>
              <a:t>, and </a:t>
            </a:r>
            <a:r>
              <a:rPr lang="en-GB" sz="2000" dirty="0" err="1">
                <a:solidFill>
                  <a:schemeClr val="bg1"/>
                </a:solidFill>
              </a:rPr>
              <a:t>MixUp</a:t>
            </a:r>
            <a:r>
              <a:rPr lang="en-GB" sz="2000" dirty="0">
                <a:solidFill>
                  <a:schemeClr val="bg1"/>
                </a:solidFill>
              </a:rPr>
              <a:t> for stronger generalization</a:t>
            </a:r>
          </a:p>
          <a:p>
            <a:r>
              <a:rPr lang="en-GB" sz="2000" dirty="0">
                <a:solidFill>
                  <a:schemeClr val="bg1"/>
                </a:solidFill>
              </a:rPr>
              <a:t>We replaced bilinear </a:t>
            </a:r>
            <a:r>
              <a:rPr lang="en-GB" sz="2000" dirty="0" err="1">
                <a:solidFill>
                  <a:schemeClr val="bg1"/>
                </a:solidFill>
              </a:rPr>
              <a:t>upsampling</a:t>
            </a:r>
            <a:r>
              <a:rPr lang="en-GB" sz="2000" dirty="0">
                <a:solidFill>
                  <a:schemeClr val="bg1"/>
                </a:solidFill>
              </a:rPr>
              <a:t> with ConvTranspose2d</a:t>
            </a:r>
          </a:p>
          <a:p>
            <a:r>
              <a:rPr lang="en-GB" sz="2000" dirty="0">
                <a:solidFill>
                  <a:schemeClr val="bg1"/>
                </a:solidFill>
              </a:rPr>
              <a:t>CBAM retained but MDC/MFA simplified into </a:t>
            </a:r>
            <a:r>
              <a:rPr lang="en-GB" sz="2000" dirty="0" err="1">
                <a:solidFill>
                  <a:schemeClr val="bg1"/>
                </a:solidFill>
              </a:rPr>
              <a:t>UpsampleBlock</a:t>
            </a:r>
            <a:endParaRPr lang="en-GB" sz="2000" dirty="0">
              <a:solidFill>
                <a:schemeClr val="bg1"/>
              </a:solidFill>
            </a:endParaRPr>
          </a:p>
        </p:txBody>
      </p:sp>
      <p:pic>
        <p:nvPicPr>
          <p:cNvPr id="1026" name="Picture 2" descr="Cutmix image augmentation">
            <a:extLst>
              <a:ext uri="{FF2B5EF4-FFF2-40B4-BE49-F238E27FC236}">
                <a16:creationId xmlns:a16="http://schemas.microsoft.com/office/drawing/2014/main" id="{F7CFE853-16E1-1644-38DD-E1032E66CF2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45193" y="600357"/>
            <a:ext cx="3588640" cy="2323644"/>
          </a:xfrm>
          <a:prstGeom prst="rect">
            <a:avLst/>
          </a:prstGeom>
          <a:noFill/>
          <a:extLst>
            <a:ext uri="{909E8E84-426E-40DD-AFC4-6F175D3DCCD1}">
              <a14:hiddenFill xmlns:a14="http://schemas.microsoft.com/office/drawing/2010/main">
                <a:solidFill>
                  <a:srgbClr val="FFFFFF"/>
                </a:solidFill>
              </a14:hiddenFill>
            </a:ext>
          </a:extLst>
        </p:spPr>
      </p:pic>
      <p:sp>
        <p:nvSpPr>
          <p:cNvPr id="1042" name="Rectangle 1041">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Mixup image augmentation">
            <a:extLst>
              <a:ext uri="{FF2B5EF4-FFF2-40B4-BE49-F238E27FC236}">
                <a16:creationId xmlns:a16="http://schemas.microsoft.com/office/drawing/2014/main" id="{BD3CEA3D-D6E7-3064-7E2B-B43D163F4EE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038661" y="3960711"/>
            <a:ext cx="3588640" cy="2323644"/>
          </a:xfrm>
          <a:prstGeom prst="rect">
            <a:avLst/>
          </a:prstGeom>
          <a:noFill/>
          <a:extLst>
            <a:ext uri="{909E8E84-426E-40DD-AFC4-6F175D3DCCD1}">
              <a14:hiddenFill xmlns:a14="http://schemas.microsoft.com/office/drawing/2010/main">
                <a:solidFill>
                  <a:srgbClr val="FFFFFF"/>
                </a:solidFill>
              </a14:hiddenFill>
            </a:ext>
          </a:extLst>
        </p:spPr>
      </p:pic>
      <p:sp>
        <p:nvSpPr>
          <p:cNvPr id="1044" name="Rectangle 1043">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B500-807A-E546-398F-8E7E6BD24E12}"/>
              </a:ext>
            </a:extLst>
          </p:cNvPr>
          <p:cNvSpPr>
            <a:spLocks noGrp="1"/>
          </p:cNvSpPr>
          <p:nvPr>
            <p:ph type="ctrTitle"/>
          </p:nvPr>
        </p:nvSpPr>
        <p:spPr>
          <a:xfrm>
            <a:off x="556532" y="643467"/>
            <a:ext cx="11210925" cy="744836"/>
          </a:xfrm>
        </p:spPr>
        <p:txBody>
          <a:bodyPr vert="horz" lIns="91440" tIns="45720" rIns="91440" bIns="45720" rtlCol="0" anchor="ctr">
            <a:normAutofit/>
          </a:bodyPr>
          <a:lstStyle/>
          <a:p>
            <a:r>
              <a:rPr lang="en-US" sz="3200" kern="1200">
                <a:solidFill>
                  <a:schemeClr val="bg1"/>
                </a:solidFill>
                <a:latin typeface="+mj-lt"/>
                <a:ea typeface="+mj-ea"/>
                <a:cs typeface="+mj-cs"/>
              </a:rPr>
              <a:t>What We Did Differently</a:t>
            </a:r>
          </a:p>
        </p:txBody>
      </p:sp>
      <p:graphicFrame>
        <p:nvGraphicFramePr>
          <p:cNvPr id="4" name="Table 3">
            <a:extLst>
              <a:ext uri="{FF2B5EF4-FFF2-40B4-BE49-F238E27FC236}">
                <a16:creationId xmlns:a16="http://schemas.microsoft.com/office/drawing/2014/main" id="{8C8B66CA-AEED-C883-F7FD-5B802EA5F737}"/>
              </a:ext>
            </a:extLst>
          </p:cNvPr>
          <p:cNvGraphicFramePr>
            <a:graphicFrameLocks noGrp="1"/>
          </p:cNvGraphicFramePr>
          <p:nvPr>
            <p:extLst>
              <p:ext uri="{D42A27DB-BD31-4B8C-83A1-F6EECF244321}">
                <p14:modId xmlns:p14="http://schemas.microsoft.com/office/powerpoint/2010/main" val="285088516"/>
              </p:ext>
            </p:extLst>
          </p:nvPr>
        </p:nvGraphicFramePr>
        <p:xfrm>
          <a:off x="1267989" y="1675227"/>
          <a:ext cx="9656022" cy="4685683"/>
        </p:xfrm>
        <a:graphic>
          <a:graphicData uri="http://schemas.openxmlformats.org/drawingml/2006/table">
            <a:tbl>
              <a:tblPr>
                <a:tableStyleId>{8799B23B-EC83-4686-B30A-512413B5E67A}</a:tableStyleId>
              </a:tblPr>
              <a:tblGrid>
                <a:gridCol w="3130702">
                  <a:extLst>
                    <a:ext uri="{9D8B030D-6E8A-4147-A177-3AD203B41FA5}">
                      <a16:colId xmlns:a16="http://schemas.microsoft.com/office/drawing/2014/main" val="3011460083"/>
                    </a:ext>
                  </a:extLst>
                </a:gridCol>
                <a:gridCol w="3114207">
                  <a:extLst>
                    <a:ext uri="{9D8B030D-6E8A-4147-A177-3AD203B41FA5}">
                      <a16:colId xmlns:a16="http://schemas.microsoft.com/office/drawing/2014/main" val="4154453833"/>
                    </a:ext>
                  </a:extLst>
                </a:gridCol>
                <a:gridCol w="3411113">
                  <a:extLst>
                    <a:ext uri="{9D8B030D-6E8A-4147-A177-3AD203B41FA5}">
                      <a16:colId xmlns:a16="http://schemas.microsoft.com/office/drawing/2014/main" val="3457085493"/>
                    </a:ext>
                  </a:extLst>
                </a:gridCol>
              </a:tblGrid>
              <a:tr h="522554">
                <a:tc>
                  <a:txBody>
                    <a:bodyPr/>
                    <a:lstStyle/>
                    <a:p>
                      <a:pPr>
                        <a:buNone/>
                      </a:pPr>
                      <a:r>
                        <a:rPr lang="en-GB" sz="2300" b="1"/>
                        <a:t>Component</a:t>
                      </a:r>
                      <a:endParaRPr lang="en-GB" sz="2300"/>
                    </a:p>
                  </a:txBody>
                  <a:tcPr marL="118762" marR="118762" marT="59381" marB="59381" anchor="ctr"/>
                </a:tc>
                <a:tc>
                  <a:txBody>
                    <a:bodyPr/>
                    <a:lstStyle/>
                    <a:p>
                      <a:pPr>
                        <a:buNone/>
                      </a:pPr>
                      <a:r>
                        <a:rPr lang="en-GB" sz="2300" b="1"/>
                        <a:t>SwinE-Net (Paper)</a:t>
                      </a:r>
                      <a:endParaRPr lang="en-GB" sz="2300"/>
                    </a:p>
                  </a:txBody>
                  <a:tcPr marL="118762" marR="118762" marT="59381" marB="59381" anchor="ctr"/>
                </a:tc>
                <a:tc>
                  <a:txBody>
                    <a:bodyPr/>
                    <a:lstStyle/>
                    <a:p>
                      <a:pPr>
                        <a:buNone/>
                      </a:pPr>
                      <a:r>
                        <a:rPr lang="en-GB" sz="2300" b="1"/>
                        <a:t>Our Implementation</a:t>
                      </a:r>
                      <a:endParaRPr lang="en-GB" sz="2300"/>
                    </a:p>
                  </a:txBody>
                  <a:tcPr marL="118762" marR="118762" marT="59381" marB="59381" anchor="ctr"/>
                </a:tc>
                <a:extLst>
                  <a:ext uri="{0D108BD9-81ED-4DB2-BD59-A6C34878D82A}">
                    <a16:rowId xmlns:a16="http://schemas.microsoft.com/office/drawing/2014/main" val="1339581081"/>
                  </a:ext>
                </a:extLst>
              </a:tr>
              <a:tr h="878840">
                <a:tc>
                  <a:txBody>
                    <a:bodyPr/>
                    <a:lstStyle/>
                    <a:p>
                      <a:pPr>
                        <a:buNone/>
                      </a:pPr>
                      <a:r>
                        <a:rPr lang="en-GB" sz="2300" b="1"/>
                        <a:t>Upsampling</a:t>
                      </a:r>
                      <a:endParaRPr lang="en-GB" sz="2300"/>
                    </a:p>
                  </a:txBody>
                  <a:tcPr marL="118762" marR="118762" marT="59381" marB="59381" anchor="ctr"/>
                </a:tc>
                <a:tc>
                  <a:txBody>
                    <a:bodyPr/>
                    <a:lstStyle/>
                    <a:p>
                      <a:pPr>
                        <a:buNone/>
                      </a:pPr>
                      <a:r>
                        <a:rPr lang="en-GB" sz="2300"/>
                        <a:t>Bilinear + Conv</a:t>
                      </a:r>
                    </a:p>
                  </a:txBody>
                  <a:tcPr marL="118762" marR="118762" marT="59381" marB="59381" anchor="ctr"/>
                </a:tc>
                <a:tc>
                  <a:txBody>
                    <a:bodyPr/>
                    <a:lstStyle/>
                    <a:p>
                      <a:pPr>
                        <a:buNone/>
                      </a:pPr>
                      <a:r>
                        <a:rPr lang="en-GB" sz="2300" dirty="0"/>
                        <a:t>ConvTranspose2d (Deconvolution)</a:t>
                      </a:r>
                    </a:p>
                  </a:txBody>
                  <a:tcPr marL="118762" marR="118762" marT="59381" marB="59381" anchor="ctr"/>
                </a:tc>
                <a:extLst>
                  <a:ext uri="{0D108BD9-81ED-4DB2-BD59-A6C34878D82A}">
                    <a16:rowId xmlns:a16="http://schemas.microsoft.com/office/drawing/2014/main" val="967956717"/>
                  </a:ext>
                </a:extLst>
              </a:tr>
              <a:tr h="1235127">
                <a:tc>
                  <a:txBody>
                    <a:bodyPr/>
                    <a:lstStyle/>
                    <a:p>
                      <a:pPr>
                        <a:buNone/>
                      </a:pPr>
                      <a:r>
                        <a:rPr lang="en-GB" sz="2300" b="1"/>
                        <a:t>Decoder Design</a:t>
                      </a:r>
                      <a:endParaRPr lang="en-GB" sz="2300"/>
                    </a:p>
                  </a:txBody>
                  <a:tcPr marL="118762" marR="118762" marT="59381" marB="59381" anchor="ctr"/>
                </a:tc>
                <a:tc>
                  <a:txBody>
                    <a:bodyPr/>
                    <a:lstStyle/>
                    <a:p>
                      <a:pPr>
                        <a:buNone/>
                      </a:pPr>
                      <a:r>
                        <a:rPr lang="en-GB" sz="2300" dirty="0"/>
                        <a:t>Modular MDC, MFA, CBAM</a:t>
                      </a:r>
                    </a:p>
                  </a:txBody>
                  <a:tcPr marL="118762" marR="118762" marT="59381" marB="59381" anchor="ctr"/>
                </a:tc>
                <a:tc>
                  <a:txBody>
                    <a:bodyPr/>
                    <a:lstStyle/>
                    <a:p>
                      <a:pPr>
                        <a:buNone/>
                      </a:pPr>
                      <a:r>
                        <a:rPr lang="en-GB" sz="2300" dirty="0"/>
                        <a:t>Simplified </a:t>
                      </a:r>
                      <a:r>
                        <a:rPr lang="en-GB" sz="2300" dirty="0" err="1"/>
                        <a:t>UpsampleBlock</a:t>
                      </a:r>
                      <a:r>
                        <a:rPr lang="en-GB" sz="2300" dirty="0"/>
                        <a:t> + CBAM </a:t>
                      </a:r>
                    </a:p>
                  </a:txBody>
                  <a:tcPr marL="118762" marR="118762" marT="59381" marB="59381" anchor="ctr"/>
                </a:tc>
                <a:extLst>
                  <a:ext uri="{0D108BD9-81ED-4DB2-BD59-A6C34878D82A}">
                    <a16:rowId xmlns:a16="http://schemas.microsoft.com/office/drawing/2014/main" val="3469350375"/>
                  </a:ext>
                </a:extLst>
              </a:tr>
              <a:tr h="878840">
                <a:tc>
                  <a:txBody>
                    <a:bodyPr/>
                    <a:lstStyle/>
                    <a:p>
                      <a:pPr>
                        <a:buNone/>
                      </a:pPr>
                      <a:r>
                        <a:rPr lang="en-GB" sz="2300" b="1" dirty="0"/>
                        <a:t>Loss Function &amp; Training</a:t>
                      </a:r>
                      <a:endParaRPr lang="en-GB" sz="2300" dirty="0"/>
                    </a:p>
                  </a:txBody>
                  <a:tcPr marL="118762" marR="118762" marT="59381" marB="59381" anchor="ctr"/>
                </a:tc>
                <a:tc>
                  <a:txBody>
                    <a:bodyPr/>
                    <a:lstStyle/>
                    <a:p>
                      <a:pPr>
                        <a:buNone/>
                      </a:pPr>
                      <a:r>
                        <a:rPr lang="en-GB" sz="2300" dirty="0"/>
                        <a:t>Weighted BCE + </a:t>
                      </a:r>
                      <a:r>
                        <a:rPr lang="en-GB" sz="2300" dirty="0" err="1"/>
                        <a:t>IoU</a:t>
                      </a:r>
                      <a:r>
                        <a:rPr lang="en-GB" sz="2300" dirty="0"/>
                        <a:t> </a:t>
                      </a:r>
                    </a:p>
                  </a:txBody>
                  <a:tcPr marL="118762" marR="118762" marT="59381" marB="59381" anchor="ctr"/>
                </a:tc>
                <a:tc>
                  <a:txBody>
                    <a:bodyPr/>
                    <a:lstStyle/>
                    <a:p>
                      <a:pPr>
                        <a:buNone/>
                      </a:pPr>
                      <a:r>
                        <a:rPr lang="en-GB" sz="2300" dirty="0"/>
                        <a:t>Weighted BCE + </a:t>
                      </a:r>
                      <a:r>
                        <a:rPr lang="en-GB" sz="2300" dirty="0" err="1"/>
                        <a:t>IoU</a:t>
                      </a:r>
                      <a:r>
                        <a:rPr lang="en-GB" sz="2300" dirty="0"/>
                        <a:t> + scheduler + Weight decay</a:t>
                      </a:r>
                    </a:p>
                  </a:txBody>
                  <a:tcPr marL="118762" marR="118762" marT="59381" marB="59381" anchor="ctr"/>
                </a:tc>
                <a:extLst>
                  <a:ext uri="{0D108BD9-81ED-4DB2-BD59-A6C34878D82A}">
                    <a16:rowId xmlns:a16="http://schemas.microsoft.com/office/drawing/2014/main" val="2780184340"/>
                  </a:ext>
                </a:extLst>
              </a:tr>
              <a:tr h="878840">
                <a:tc>
                  <a:txBody>
                    <a:bodyPr/>
                    <a:lstStyle/>
                    <a:p>
                      <a:pPr>
                        <a:buNone/>
                      </a:pPr>
                      <a:r>
                        <a:rPr lang="en-GB" sz="2300" b="1"/>
                        <a:t>Data Augmentation</a:t>
                      </a:r>
                      <a:endParaRPr lang="en-GB" sz="2300"/>
                    </a:p>
                  </a:txBody>
                  <a:tcPr marL="118762" marR="118762" marT="59381" marB="59381" anchor="ctr"/>
                </a:tc>
                <a:tc>
                  <a:txBody>
                    <a:bodyPr/>
                    <a:lstStyle/>
                    <a:p>
                      <a:pPr>
                        <a:buNone/>
                      </a:pPr>
                      <a:r>
                        <a:rPr lang="en-GB" sz="2300" dirty="0"/>
                        <a:t>Basic (Rotation, Flip, Scaling)</a:t>
                      </a:r>
                    </a:p>
                  </a:txBody>
                  <a:tcPr marL="118762" marR="118762" marT="59381" marB="59381" anchor="ctr"/>
                </a:tc>
                <a:tc>
                  <a:txBody>
                    <a:bodyPr/>
                    <a:lstStyle/>
                    <a:p>
                      <a:pPr>
                        <a:buNone/>
                      </a:pPr>
                      <a:r>
                        <a:rPr lang="en-GB" sz="2300" dirty="0" err="1"/>
                        <a:t>Albumentations</a:t>
                      </a:r>
                      <a:r>
                        <a:rPr lang="en-GB" sz="2300" dirty="0"/>
                        <a:t> + </a:t>
                      </a:r>
                      <a:r>
                        <a:rPr lang="en-GB" sz="2300" dirty="0" err="1"/>
                        <a:t>CutMix</a:t>
                      </a:r>
                      <a:r>
                        <a:rPr lang="en-GB" sz="2300" dirty="0"/>
                        <a:t> + </a:t>
                      </a:r>
                      <a:r>
                        <a:rPr lang="en-GB" sz="2300" dirty="0" err="1"/>
                        <a:t>MixUp</a:t>
                      </a:r>
                      <a:endParaRPr lang="en-GB" sz="2300" dirty="0"/>
                    </a:p>
                  </a:txBody>
                  <a:tcPr marL="118762" marR="118762" marT="59381" marB="59381" anchor="ctr"/>
                </a:tc>
                <a:extLst>
                  <a:ext uri="{0D108BD9-81ED-4DB2-BD59-A6C34878D82A}">
                    <a16:rowId xmlns:a16="http://schemas.microsoft.com/office/drawing/2014/main" val="896562487"/>
                  </a:ext>
                </a:extLst>
              </a:tr>
            </a:tbl>
          </a:graphicData>
        </a:graphic>
      </p:graphicFrame>
    </p:spTree>
    <p:extLst>
      <p:ext uri="{BB962C8B-B14F-4D97-AF65-F5344CB8AC3E}">
        <p14:creationId xmlns:p14="http://schemas.microsoft.com/office/powerpoint/2010/main" val="195584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C4952-12A7-F1EC-EC48-1AC64207C09B}"/>
              </a:ext>
            </a:extLst>
          </p:cNvPr>
          <p:cNvSpPr>
            <a:spLocks noGrp="1"/>
          </p:cNvSpPr>
          <p:nvPr>
            <p:ph type="title"/>
          </p:nvPr>
        </p:nvSpPr>
        <p:spPr>
          <a:xfrm>
            <a:off x="865140" y="301791"/>
            <a:ext cx="9738257" cy="1107126"/>
          </a:xfrm>
        </p:spPr>
        <p:txBody>
          <a:bodyPr anchor="t">
            <a:normAutofit/>
          </a:bodyPr>
          <a:lstStyle/>
          <a:p>
            <a:r>
              <a:rPr lang="en-GB" sz="3200" dirty="0"/>
              <a:t>Experiment Results </a:t>
            </a:r>
            <a:r>
              <a:rPr lang="en-GB" sz="3200" dirty="0" err="1"/>
              <a:t>Comparision</a:t>
            </a:r>
            <a:endParaRPr lang="en-DE" sz="3200"/>
          </a:p>
        </p:txBody>
      </p:sp>
      <p:cxnSp>
        <p:nvCxnSpPr>
          <p:cNvPr id="24" name="Straight Connector 23">
            <a:extLst>
              <a:ext uri="{FF2B5EF4-FFF2-40B4-BE49-F238E27FC236}">
                <a16:creationId xmlns:a16="http://schemas.microsoft.com/office/drawing/2014/main" id="{D2C4353C-C927-1758-0BEF-21E9E0D816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554B7B8-C6DE-5C01-97C1-53D51DE1E63E}"/>
              </a:ext>
            </a:extLst>
          </p:cNvPr>
          <p:cNvSpPr txBox="1"/>
          <p:nvPr/>
        </p:nvSpPr>
        <p:spPr>
          <a:xfrm>
            <a:off x="702120" y="3359624"/>
            <a:ext cx="9458573" cy="1008922"/>
          </a:xfrm>
          <a:prstGeom prst="rect">
            <a:avLst/>
          </a:prstGeom>
          <a:noFill/>
          <a:ln w="28575">
            <a:solidFill>
              <a:srgbClr val="FF0000"/>
            </a:solidFill>
          </a:ln>
        </p:spPr>
        <p:txBody>
          <a:bodyPr wrap="square" rtlCol="0">
            <a:spAutoFit/>
          </a:bodyPr>
          <a:lstStyle/>
          <a:p>
            <a:endParaRPr lang="en-US" dirty="0"/>
          </a:p>
        </p:txBody>
      </p:sp>
      <p:graphicFrame>
        <p:nvGraphicFramePr>
          <p:cNvPr id="4" name="Content Placeholder 3">
            <a:extLst>
              <a:ext uri="{FF2B5EF4-FFF2-40B4-BE49-F238E27FC236}">
                <a16:creationId xmlns:a16="http://schemas.microsoft.com/office/drawing/2014/main" id="{B0FF9255-4D04-48FD-FEA3-6A6CB92DE347}"/>
              </a:ext>
            </a:extLst>
          </p:cNvPr>
          <p:cNvGraphicFramePr>
            <a:graphicFrameLocks noGrp="1"/>
          </p:cNvGraphicFramePr>
          <p:nvPr>
            <p:ph idx="1"/>
            <p:extLst>
              <p:ext uri="{D42A27DB-BD31-4B8C-83A1-F6EECF244321}">
                <p14:modId xmlns:p14="http://schemas.microsoft.com/office/powerpoint/2010/main" val="3114479672"/>
              </p:ext>
            </p:extLst>
          </p:nvPr>
        </p:nvGraphicFramePr>
        <p:xfrm>
          <a:off x="865137" y="1094479"/>
          <a:ext cx="9132541" cy="3645363"/>
        </p:xfrm>
        <a:graphic>
          <a:graphicData uri="http://schemas.openxmlformats.org/drawingml/2006/table">
            <a:tbl>
              <a:tblPr firstRow="1" firstCol="1" bandRow="1"/>
              <a:tblGrid>
                <a:gridCol w="411779">
                  <a:extLst>
                    <a:ext uri="{9D8B030D-6E8A-4147-A177-3AD203B41FA5}">
                      <a16:colId xmlns:a16="http://schemas.microsoft.com/office/drawing/2014/main" val="2181568304"/>
                    </a:ext>
                  </a:extLst>
                </a:gridCol>
                <a:gridCol w="1815770">
                  <a:extLst>
                    <a:ext uri="{9D8B030D-6E8A-4147-A177-3AD203B41FA5}">
                      <a16:colId xmlns:a16="http://schemas.microsoft.com/office/drawing/2014/main" val="801097743"/>
                    </a:ext>
                  </a:extLst>
                </a:gridCol>
                <a:gridCol w="808184">
                  <a:extLst>
                    <a:ext uri="{9D8B030D-6E8A-4147-A177-3AD203B41FA5}">
                      <a16:colId xmlns:a16="http://schemas.microsoft.com/office/drawing/2014/main" val="4005816466"/>
                    </a:ext>
                  </a:extLst>
                </a:gridCol>
                <a:gridCol w="2983486">
                  <a:extLst>
                    <a:ext uri="{9D8B030D-6E8A-4147-A177-3AD203B41FA5}">
                      <a16:colId xmlns:a16="http://schemas.microsoft.com/office/drawing/2014/main" val="917044216"/>
                    </a:ext>
                  </a:extLst>
                </a:gridCol>
                <a:gridCol w="755430">
                  <a:extLst>
                    <a:ext uri="{9D8B030D-6E8A-4147-A177-3AD203B41FA5}">
                      <a16:colId xmlns:a16="http://schemas.microsoft.com/office/drawing/2014/main" val="293973362"/>
                    </a:ext>
                  </a:extLst>
                </a:gridCol>
                <a:gridCol w="700286">
                  <a:extLst>
                    <a:ext uri="{9D8B030D-6E8A-4147-A177-3AD203B41FA5}">
                      <a16:colId xmlns:a16="http://schemas.microsoft.com/office/drawing/2014/main" val="3053899026"/>
                    </a:ext>
                  </a:extLst>
                </a:gridCol>
                <a:gridCol w="708155">
                  <a:extLst>
                    <a:ext uri="{9D8B030D-6E8A-4147-A177-3AD203B41FA5}">
                      <a16:colId xmlns:a16="http://schemas.microsoft.com/office/drawing/2014/main" val="518069292"/>
                    </a:ext>
                  </a:extLst>
                </a:gridCol>
                <a:gridCol w="949451">
                  <a:extLst>
                    <a:ext uri="{9D8B030D-6E8A-4147-A177-3AD203B41FA5}">
                      <a16:colId xmlns:a16="http://schemas.microsoft.com/office/drawing/2014/main" val="3195317407"/>
                    </a:ext>
                  </a:extLst>
                </a:gridCol>
              </a:tblGrid>
              <a:tr h="224692">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Exp</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Loss function</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Epochs</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Description</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Dataset</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mDice</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mIoU</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Accuracy</a:t>
                      </a:r>
                      <a:endParaRPr lang="en-DE"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9742817"/>
                  </a:ext>
                </a:extLst>
              </a:tr>
              <a:tr h="224692">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BCEwithLogitsLoss</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6</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Metrics for Training only</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0.949</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0.927</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0.987</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9431355"/>
                  </a:ext>
                </a:extLst>
              </a:tr>
              <a:tr h="224692">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2</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BCEwithLogitsLoss</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6</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Split Train:Test::9:1</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0.894</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0.832</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0.969</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415771"/>
                  </a:ext>
                </a:extLst>
              </a:tr>
              <a:tr h="224692">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3</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Added 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0.906</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0.842</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0.971</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6890218"/>
                  </a:ext>
                </a:extLst>
              </a:tr>
              <a:tr h="403930">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4</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Added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ClinicDB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 + ClinicDB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0.90</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0.841</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0.975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3923499"/>
                  </a:ext>
                </a:extLst>
              </a:tr>
              <a:tr h="426846">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Tried SwinV2 transformer</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 + ClinicDB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0.875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0.802</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0.969</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1105356"/>
                  </a:ext>
                </a:extLst>
              </a:tr>
              <a:tr h="629001">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6</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Advance augmentation (mixup/cutmix) + optimizer with weight decay + Reduce on Plateau Scheduler</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 + ClinicDB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0.899</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0.865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0.978</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0725087"/>
                  </a:ext>
                </a:extLst>
              </a:tr>
              <a:tr h="426846">
                <a:tc>
                  <a:txBody>
                    <a:bodyPr/>
                    <a:lstStyle/>
                    <a:p>
                      <a:pPr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6A</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Same as above. Only evaluated on Kvasir dataset</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 + ClinicDB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0.928</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0.866</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0.976</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9779172"/>
                  </a:ext>
                </a:extLst>
              </a:tr>
              <a:tr h="426846">
                <a:tc>
                  <a:txBody>
                    <a:bodyPr/>
                    <a:lstStyle/>
                    <a:p>
                      <a:pPr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6B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Same as above. Only evaluated on ClinicDB dataset</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 + ClinicDB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0.907</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0.830</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0.982</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7510276"/>
                  </a:ext>
                </a:extLst>
              </a:tr>
              <a:tr h="426846">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7</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Weighted Loss Function</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15</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Changed  Reduce on Plateau Scheduler to Cosine Annealing</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Kvasir + ClinicDB</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0.892</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0.858</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0.977</a:t>
                      </a:r>
                      <a:endParaRPr lang="en-DE" sz="1200" kern="100">
                        <a:effectLst/>
                        <a:latin typeface="Aptos" panose="020B0004020202020204" pitchFamily="34" charset="0"/>
                        <a:ea typeface="Aptos" panose="020B0004020202020204" pitchFamily="34" charset="0"/>
                        <a:cs typeface="Times New Roman" panose="02020603050405020304" pitchFamily="18" charset="0"/>
                      </a:endParaRPr>
                    </a:p>
                  </a:txBody>
                  <a:tcPr marL="23223" marR="232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4688669"/>
                  </a:ext>
                </a:extLst>
              </a:tr>
            </a:tbl>
          </a:graphicData>
        </a:graphic>
      </p:graphicFrame>
      <p:grpSp>
        <p:nvGrpSpPr>
          <p:cNvPr id="10" name="Group 9">
            <a:extLst>
              <a:ext uri="{FF2B5EF4-FFF2-40B4-BE49-F238E27FC236}">
                <a16:creationId xmlns:a16="http://schemas.microsoft.com/office/drawing/2014/main" id="{866031D1-C37B-AE3B-CFD8-7862FA677619}"/>
              </a:ext>
            </a:extLst>
          </p:cNvPr>
          <p:cNvGrpSpPr/>
          <p:nvPr/>
        </p:nvGrpSpPr>
        <p:grpSpPr>
          <a:xfrm>
            <a:off x="1602079" y="5243905"/>
            <a:ext cx="7772400" cy="1039232"/>
            <a:chOff x="1395411" y="5496979"/>
            <a:chExt cx="7772400" cy="1039232"/>
          </a:xfrm>
        </p:grpSpPr>
        <p:pic>
          <p:nvPicPr>
            <p:cNvPr id="5" name="Picture 4">
              <a:extLst>
                <a:ext uri="{FF2B5EF4-FFF2-40B4-BE49-F238E27FC236}">
                  <a16:creationId xmlns:a16="http://schemas.microsoft.com/office/drawing/2014/main" id="{9877E37D-663F-FD65-2B6D-0F03E947C75C}"/>
                </a:ext>
              </a:extLst>
            </p:cNvPr>
            <p:cNvPicPr>
              <a:picLocks noChangeAspect="1"/>
            </p:cNvPicPr>
            <p:nvPr/>
          </p:nvPicPr>
          <p:blipFill>
            <a:blip r:embed="rId3"/>
            <a:srcRect t="9997" b="-1"/>
            <a:stretch/>
          </p:blipFill>
          <p:spPr>
            <a:xfrm>
              <a:off x="1395411" y="5496979"/>
              <a:ext cx="7772400" cy="489875"/>
            </a:xfrm>
            <a:prstGeom prst="rect">
              <a:avLst/>
            </a:prstGeom>
            <a:ln>
              <a:solidFill>
                <a:schemeClr val="tx1"/>
              </a:solidFill>
            </a:ln>
          </p:spPr>
        </p:pic>
        <p:pic>
          <p:nvPicPr>
            <p:cNvPr id="6" name="Picture 5">
              <a:extLst>
                <a:ext uri="{FF2B5EF4-FFF2-40B4-BE49-F238E27FC236}">
                  <a16:creationId xmlns:a16="http://schemas.microsoft.com/office/drawing/2014/main" id="{10FFE2D8-3A96-E398-9694-19BFDE192647}"/>
                </a:ext>
              </a:extLst>
            </p:cNvPr>
            <p:cNvPicPr>
              <a:picLocks noChangeAspect="1"/>
            </p:cNvPicPr>
            <p:nvPr/>
          </p:nvPicPr>
          <p:blipFill>
            <a:blip r:embed="rId4"/>
            <a:stretch>
              <a:fillRect/>
            </a:stretch>
          </p:blipFill>
          <p:spPr>
            <a:xfrm>
              <a:off x="1395411" y="5970155"/>
              <a:ext cx="7772400" cy="283028"/>
            </a:xfrm>
            <a:prstGeom prst="rect">
              <a:avLst/>
            </a:prstGeom>
            <a:ln>
              <a:solidFill>
                <a:schemeClr val="tx1"/>
              </a:solidFill>
            </a:ln>
          </p:spPr>
        </p:pic>
        <p:pic>
          <p:nvPicPr>
            <p:cNvPr id="7" name="Picture 6">
              <a:extLst>
                <a:ext uri="{FF2B5EF4-FFF2-40B4-BE49-F238E27FC236}">
                  <a16:creationId xmlns:a16="http://schemas.microsoft.com/office/drawing/2014/main" id="{1D7A2A4C-D696-F7EF-DD32-5284DA10768B}"/>
                </a:ext>
              </a:extLst>
            </p:cNvPr>
            <p:cNvPicPr>
              <a:picLocks noChangeAspect="1"/>
            </p:cNvPicPr>
            <p:nvPr/>
          </p:nvPicPr>
          <p:blipFill>
            <a:blip r:embed="rId5"/>
            <a:stretch>
              <a:fillRect/>
            </a:stretch>
          </p:blipFill>
          <p:spPr>
            <a:xfrm>
              <a:off x="1395411" y="6253183"/>
              <a:ext cx="7772400" cy="283028"/>
            </a:xfrm>
            <a:prstGeom prst="rect">
              <a:avLst/>
            </a:prstGeom>
            <a:ln>
              <a:solidFill>
                <a:schemeClr val="tx1"/>
              </a:solidFill>
            </a:ln>
          </p:spPr>
        </p:pic>
      </p:grpSp>
      <p:sp>
        <p:nvSpPr>
          <p:cNvPr id="8" name="TextBox 7">
            <a:extLst>
              <a:ext uri="{FF2B5EF4-FFF2-40B4-BE49-F238E27FC236}">
                <a16:creationId xmlns:a16="http://schemas.microsoft.com/office/drawing/2014/main" id="{469C80CD-6DFE-2EA2-E15E-CFD06CD318DD}"/>
              </a:ext>
            </a:extLst>
          </p:cNvPr>
          <p:cNvSpPr txBox="1"/>
          <p:nvPr/>
        </p:nvSpPr>
        <p:spPr>
          <a:xfrm>
            <a:off x="2966721" y="4696690"/>
            <a:ext cx="5535094" cy="369332"/>
          </a:xfrm>
          <a:prstGeom prst="rect">
            <a:avLst/>
          </a:prstGeom>
          <a:noFill/>
        </p:spPr>
        <p:txBody>
          <a:bodyPr wrap="square" rtlCol="0">
            <a:spAutoFit/>
          </a:bodyPr>
          <a:lstStyle/>
          <a:p>
            <a:r>
              <a:rPr lang="en-US" dirty="0"/>
              <a:t>Table: Experiment Results For New Implementation</a:t>
            </a:r>
          </a:p>
        </p:txBody>
      </p:sp>
      <p:sp>
        <p:nvSpPr>
          <p:cNvPr id="12" name="TextBox 11">
            <a:extLst>
              <a:ext uri="{FF2B5EF4-FFF2-40B4-BE49-F238E27FC236}">
                <a16:creationId xmlns:a16="http://schemas.microsoft.com/office/drawing/2014/main" id="{C03C31E4-A3E1-E60F-B768-5FBD6F5B98E6}"/>
              </a:ext>
            </a:extLst>
          </p:cNvPr>
          <p:cNvSpPr txBox="1"/>
          <p:nvPr/>
        </p:nvSpPr>
        <p:spPr>
          <a:xfrm>
            <a:off x="3131864" y="6321217"/>
            <a:ext cx="4712829" cy="369332"/>
          </a:xfrm>
          <a:prstGeom prst="rect">
            <a:avLst/>
          </a:prstGeom>
          <a:noFill/>
        </p:spPr>
        <p:txBody>
          <a:bodyPr wrap="none" rtlCol="0">
            <a:spAutoFit/>
          </a:bodyPr>
          <a:lstStyle/>
          <a:p>
            <a:r>
              <a:rPr lang="en-US" dirty="0"/>
              <a:t>Table: Experiment Results from Original Paper</a:t>
            </a:r>
          </a:p>
        </p:txBody>
      </p:sp>
      <p:sp>
        <p:nvSpPr>
          <p:cNvPr id="14" name="TextBox 13">
            <a:extLst>
              <a:ext uri="{FF2B5EF4-FFF2-40B4-BE49-F238E27FC236}">
                <a16:creationId xmlns:a16="http://schemas.microsoft.com/office/drawing/2014/main" id="{3F80DE31-B16A-96E0-A269-BF2761EF8E61}"/>
              </a:ext>
            </a:extLst>
          </p:cNvPr>
          <p:cNvSpPr txBox="1"/>
          <p:nvPr/>
        </p:nvSpPr>
        <p:spPr>
          <a:xfrm>
            <a:off x="2349740" y="5733780"/>
            <a:ext cx="830677" cy="246221"/>
          </a:xfrm>
          <a:prstGeom prst="rect">
            <a:avLst/>
          </a:prstGeom>
          <a:noFill/>
        </p:spPr>
        <p:txBody>
          <a:bodyPr wrap="none" rtlCol="0">
            <a:spAutoFit/>
          </a:bodyPr>
          <a:lstStyle/>
          <a:p>
            <a:r>
              <a:rPr lang="en-US" sz="1000" b="1" dirty="0"/>
              <a:t>Kvasir-SEG</a:t>
            </a:r>
          </a:p>
        </p:txBody>
      </p:sp>
      <p:sp>
        <p:nvSpPr>
          <p:cNvPr id="16" name="TextBox 15">
            <a:extLst>
              <a:ext uri="{FF2B5EF4-FFF2-40B4-BE49-F238E27FC236}">
                <a16:creationId xmlns:a16="http://schemas.microsoft.com/office/drawing/2014/main" id="{231B4266-73F0-DBAC-B578-DB6547A03E82}"/>
              </a:ext>
            </a:extLst>
          </p:cNvPr>
          <p:cNvSpPr txBox="1"/>
          <p:nvPr/>
        </p:nvSpPr>
        <p:spPr>
          <a:xfrm>
            <a:off x="2349740" y="6016834"/>
            <a:ext cx="697627" cy="246221"/>
          </a:xfrm>
          <a:prstGeom prst="rect">
            <a:avLst/>
          </a:prstGeom>
          <a:noFill/>
        </p:spPr>
        <p:txBody>
          <a:bodyPr wrap="none" rtlCol="0">
            <a:spAutoFit/>
          </a:bodyPr>
          <a:lstStyle/>
          <a:p>
            <a:r>
              <a:rPr lang="en-US" sz="1000" b="1" dirty="0" err="1"/>
              <a:t>ClinicDB</a:t>
            </a:r>
            <a:endParaRPr lang="en-US" sz="1000" b="1" dirty="0"/>
          </a:p>
        </p:txBody>
      </p:sp>
    </p:spTree>
    <p:extLst>
      <p:ext uri="{BB962C8B-B14F-4D97-AF65-F5344CB8AC3E}">
        <p14:creationId xmlns:p14="http://schemas.microsoft.com/office/powerpoint/2010/main" val="415914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Insights from Experiments</a:t>
            </a:r>
          </a:p>
        </p:txBody>
      </p:sp>
      <p:sp>
        <p:nvSpPr>
          <p:cNvPr id="3" name="Content Placeholder 2"/>
          <p:cNvSpPr>
            <a:spLocks noGrp="1"/>
          </p:cNvSpPr>
          <p:nvPr>
            <p:ph idx="1"/>
          </p:nvPr>
        </p:nvSpPr>
        <p:spPr>
          <a:xfrm>
            <a:off x="838201" y="1825625"/>
            <a:ext cx="9875108" cy="2734018"/>
          </a:xfrm>
        </p:spPr>
        <p:txBody>
          <a:bodyPr>
            <a:normAutofit fontScale="92500"/>
          </a:bodyPr>
          <a:lstStyle/>
          <a:p>
            <a:r>
              <a:rPr dirty="0"/>
              <a:t>Best Dice: 0.9</a:t>
            </a:r>
            <a:r>
              <a:rPr lang="en-US" dirty="0"/>
              <a:t>28</a:t>
            </a:r>
            <a:r>
              <a:rPr dirty="0"/>
              <a:t> with </a:t>
            </a:r>
            <a:r>
              <a:rPr lang="en-US" dirty="0"/>
              <a:t>Weighted Loss Function</a:t>
            </a:r>
            <a:r>
              <a:rPr dirty="0"/>
              <a:t> on Kvasir (</a:t>
            </a:r>
            <a:r>
              <a:rPr lang="en-US" dirty="0"/>
              <a:t>Advanced Augmentation, Optimizer with Weight Decay, Scheduler</a:t>
            </a:r>
            <a:r>
              <a:rPr dirty="0"/>
              <a:t>)</a:t>
            </a:r>
          </a:p>
          <a:p>
            <a:r>
              <a:rPr dirty="0"/>
              <a:t>Best </a:t>
            </a:r>
            <a:r>
              <a:rPr dirty="0" err="1"/>
              <a:t>IoU</a:t>
            </a:r>
            <a:r>
              <a:rPr dirty="0"/>
              <a:t>: 0.866 with Weighted Loss + Aug (Exp 6</a:t>
            </a:r>
            <a:r>
              <a:rPr lang="en-US" dirty="0"/>
              <a:t>A</a:t>
            </a:r>
            <a:r>
              <a:rPr dirty="0"/>
              <a:t>)</a:t>
            </a:r>
          </a:p>
          <a:p>
            <a:r>
              <a:rPr dirty="0"/>
              <a:t>Best Accuracy: 0.982 on </a:t>
            </a:r>
            <a:r>
              <a:rPr dirty="0" err="1"/>
              <a:t>ClinicDB</a:t>
            </a:r>
            <a:r>
              <a:rPr dirty="0"/>
              <a:t> (Exp 6</a:t>
            </a:r>
            <a:r>
              <a:rPr lang="en-US" dirty="0"/>
              <a:t>B</a:t>
            </a:r>
            <a:r>
              <a:rPr dirty="0"/>
              <a:t>)</a:t>
            </a:r>
          </a:p>
          <a:p>
            <a:r>
              <a:rPr dirty="0"/>
              <a:t>Weighted loss </a:t>
            </a:r>
            <a:r>
              <a:rPr lang="en-US" dirty="0"/>
              <a:t>function, advanced </a:t>
            </a:r>
            <a:r>
              <a:rPr dirty="0"/>
              <a:t>augmentation</a:t>
            </a:r>
            <a:r>
              <a:rPr lang="en-US" dirty="0"/>
              <a:t>, scheduler, and optimizer with weight decay boost</a:t>
            </a:r>
            <a:r>
              <a:rPr dirty="0"/>
              <a:t> generalization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A1D22-029C-EB2C-4E74-C3DF6B15761D}"/>
              </a:ext>
            </a:extLst>
          </p:cNvPr>
          <p:cNvSpPr>
            <a:spLocks noGrp="1"/>
          </p:cNvSpPr>
          <p:nvPr>
            <p:ph type="title"/>
          </p:nvPr>
        </p:nvSpPr>
        <p:spPr/>
        <p:txBody>
          <a:bodyPr/>
          <a:lstStyle/>
          <a:p>
            <a:r>
              <a:rPr lang="en-GB" dirty="0"/>
              <a:t>Pros and Cons</a:t>
            </a:r>
            <a:endParaRPr lang="en-DE" dirty="0"/>
          </a:p>
        </p:txBody>
      </p:sp>
      <p:sp>
        <p:nvSpPr>
          <p:cNvPr id="3" name="Content Placeholder 2">
            <a:extLst>
              <a:ext uri="{FF2B5EF4-FFF2-40B4-BE49-F238E27FC236}">
                <a16:creationId xmlns:a16="http://schemas.microsoft.com/office/drawing/2014/main" id="{A7722970-FEA7-18ED-8B52-C27DC525E46A}"/>
              </a:ext>
            </a:extLst>
          </p:cNvPr>
          <p:cNvSpPr>
            <a:spLocks noGrp="1"/>
          </p:cNvSpPr>
          <p:nvPr>
            <p:ph idx="1"/>
          </p:nvPr>
        </p:nvSpPr>
        <p:spPr/>
        <p:txBody>
          <a:bodyPr/>
          <a:lstStyle/>
          <a:p>
            <a:pPr marL="0" indent="0">
              <a:buNone/>
            </a:pPr>
            <a:r>
              <a:rPr lang="en-GB" dirty="0"/>
              <a:t>Pros</a:t>
            </a:r>
          </a:p>
          <a:p>
            <a:r>
              <a:rPr lang="en-GB" sz="1800" dirty="0"/>
              <a:t>Easier to debug and train compared to complex original </a:t>
            </a:r>
            <a:r>
              <a:rPr lang="en-GB" sz="1800" dirty="0" err="1"/>
              <a:t>SwinE</a:t>
            </a:r>
            <a:r>
              <a:rPr lang="en-GB" sz="1800" dirty="0"/>
              <a:t>-Net decoder (with MDC, MFA).</a:t>
            </a:r>
          </a:p>
          <a:p>
            <a:r>
              <a:rPr lang="en-GB" sz="1800" dirty="0"/>
              <a:t>Swin Transformer + CBAM give global + local attention without excessive compute.</a:t>
            </a:r>
          </a:p>
          <a:p>
            <a:r>
              <a:rPr lang="en-GB" sz="1800" dirty="0"/>
              <a:t>Advanced augmentations (</a:t>
            </a:r>
            <a:r>
              <a:rPr lang="en-GB" sz="1800" dirty="0" err="1"/>
              <a:t>CutMix</a:t>
            </a:r>
            <a:r>
              <a:rPr lang="en-GB" sz="1800" dirty="0"/>
              <a:t>, </a:t>
            </a:r>
            <a:r>
              <a:rPr lang="en-GB" sz="1800" dirty="0" err="1"/>
              <a:t>MixUp</a:t>
            </a:r>
            <a:r>
              <a:rPr lang="en-GB" sz="1800" dirty="0"/>
              <a:t>) and regularization help perform well on unseen data.</a:t>
            </a:r>
          </a:p>
          <a:p>
            <a:r>
              <a:rPr lang="en-GB" sz="1800" dirty="0"/>
              <a:t>Outperforms original model in Dice for Kvasir-SEG dataset.</a:t>
            </a:r>
          </a:p>
          <a:p>
            <a:pPr marL="0" indent="0">
              <a:buNone/>
            </a:pPr>
            <a:endParaRPr lang="en-GB" dirty="0"/>
          </a:p>
          <a:p>
            <a:pPr marL="0" indent="0">
              <a:buNone/>
            </a:pPr>
            <a:r>
              <a:rPr lang="en-GB" dirty="0"/>
              <a:t>Cons</a:t>
            </a:r>
          </a:p>
          <a:p>
            <a:r>
              <a:rPr lang="en-GB" sz="1800" dirty="0"/>
              <a:t>CBAM is used lightly—more aggressive attention stacking might improve boundary detail.</a:t>
            </a:r>
          </a:p>
          <a:p>
            <a:r>
              <a:rPr lang="en-GB" sz="1800" dirty="0"/>
              <a:t>Performance on real-time or video-sequence inference isn’t measured.</a:t>
            </a:r>
          </a:p>
          <a:p>
            <a:r>
              <a:rPr lang="en-GB" sz="1800" dirty="0"/>
              <a:t>Our model only segments polyps, not classifies them as benign/malignant.</a:t>
            </a:r>
            <a:endParaRPr lang="en-DE" sz="1800" dirty="0"/>
          </a:p>
        </p:txBody>
      </p:sp>
    </p:spTree>
    <p:extLst>
      <p:ext uri="{BB962C8B-B14F-4D97-AF65-F5344CB8AC3E}">
        <p14:creationId xmlns:p14="http://schemas.microsoft.com/office/powerpoint/2010/main" val="204428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C3BF3-0989-EBB9-3C22-8632A8F1745E}"/>
              </a:ext>
            </a:extLst>
          </p:cNvPr>
          <p:cNvSpPr>
            <a:spLocks noGrp="1"/>
          </p:cNvSpPr>
          <p:nvPr>
            <p:ph type="title"/>
          </p:nvPr>
        </p:nvSpPr>
        <p:spPr>
          <a:xfrm>
            <a:off x="550438" y="207510"/>
            <a:ext cx="11101135" cy="796980"/>
          </a:xfrm>
        </p:spPr>
        <p:txBody>
          <a:bodyPr>
            <a:normAutofit fontScale="90000"/>
          </a:bodyPr>
          <a:lstStyle/>
          <a:p>
            <a:pPr algn="ctr"/>
            <a:r>
              <a:rPr lang="en-US"/>
              <a:t>Project Timeline</a:t>
            </a:r>
          </a:p>
        </p:txBody>
      </p:sp>
      <p:graphicFrame>
        <p:nvGraphicFramePr>
          <p:cNvPr id="4" name="Content Placeholder 3">
            <a:extLst>
              <a:ext uri="{FF2B5EF4-FFF2-40B4-BE49-F238E27FC236}">
                <a16:creationId xmlns:a16="http://schemas.microsoft.com/office/drawing/2014/main" id="{4587BEE7-5C20-3230-F147-7CAB41720B0E}"/>
              </a:ext>
            </a:extLst>
          </p:cNvPr>
          <p:cNvGraphicFramePr>
            <a:graphicFrameLocks noGrp="1"/>
          </p:cNvGraphicFramePr>
          <p:nvPr>
            <p:ph idx="1"/>
            <p:extLst>
              <p:ext uri="{D42A27DB-BD31-4B8C-83A1-F6EECF244321}">
                <p14:modId xmlns:p14="http://schemas.microsoft.com/office/powerpoint/2010/main" val="824549623"/>
              </p:ext>
            </p:extLst>
          </p:nvPr>
        </p:nvGraphicFramePr>
        <p:xfrm>
          <a:off x="550188" y="1004888"/>
          <a:ext cx="11101385" cy="5564182"/>
        </p:xfrm>
        <a:graphic>
          <a:graphicData uri="http://schemas.openxmlformats.org/drawingml/2006/table">
            <a:tbl>
              <a:tblPr firstRow="1" bandRow="1">
                <a:tableStyleId>{125E5076-3810-47DD-B79F-674D7AD40C01}</a:tableStyleId>
              </a:tblPr>
              <a:tblGrid>
                <a:gridCol w="3162820">
                  <a:extLst>
                    <a:ext uri="{9D8B030D-6E8A-4147-A177-3AD203B41FA5}">
                      <a16:colId xmlns:a16="http://schemas.microsoft.com/office/drawing/2014/main" val="1233127259"/>
                    </a:ext>
                  </a:extLst>
                </a:gridCol>
                <a:gridCol w="3810934">
                  <a:extLst>
                    <a:ext uri="{9D8B030D-6E8A-4147-A177-3AD203B41FA5}">
                      <a16:colId xmlns:a16="http://schemas.microsoft.com/office/drawing/2014/main" val="595135166"/>
                    </a:ext>
                  </a:extLst>
                </a:gridCol>
                <a:gridCol w="4127631">
                  <a:extLst>
                    <a:ext uri="{9D8B030D-6E8A-4147-A177-3AD203B41FA5}">
                      <a16:colId xmlns:a16="http://schemas.microsoft.com/office/drawing/2014/main" val="2970707064"/>
                    </a:ext>
                  </a:extLst>
                </a:gridCol>
              </a:tblGrid>
              <a:tr h="289288">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Pranjal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Hanisha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0572352"/>
                  </a:ext>
                </a:extLst>
              </a:tr>
              <a:tr h="289288">
                <a:tc>
                  <a:txBody>
                    <a:bodyPr/>
                    <a:lstStyle/>
                    <a:p>
                      <a:pPr algn="ctr"/>
                      <a:r>
                        <a:rPr lang="en-US" sz="1400"/>
                        <a:t>Week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PPT-1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PPT-1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320374"/>
                  </a:ext>
                </a:extLst>
              </a:tr>
              <a:tr h="289288">
                <a:tc>
                  <a:txBody>
                    <a:bodyPr/>
                    <a:lstStyle/>
                    <a:p>
                      <a:pPr algn="ctr"/>
                      <a:r>
                        <a:rPr lang="en-US" sz="1400"/>
                        <a:t>Week 1 - Kickoff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Literature Review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Understand </a:t>
                      </a:r>
                      <a:r>
                        <a:rPr lang="en-US" sz="1400" dirty="0" err="1"/>
                        <a:t>SwinE</a:t>
                      </a:r>
                      <a:r>
                        <a:rPr lang="en-US" sz="1400" dirty="0"/>
                        <a:t>-Net architecture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283080"/>
                  </a:ext>
                </a:extLst>
              </a:tr>
              <a:tr h="503575">
                <a:tc>
                  <a:txBody>
                    <a:bodyPr/>
                    <a:lstStyle/>
                    <a:p>
                      <a:pPr algn="ctr"/>
                      <a:r>
                        <a:rPr lang="en-US" sz="1400"/>
                        <a:t>Week 2 – Dataset collection and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Gather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Dataset cleaning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8591960"/>
                  </a:ext>
                </a:extLst>
              </a:tr>
              <a:tr h="503575">
                <a:tc>
                  <a:txBody>
                    <a:bodyPr/>
                    <a:lstStyle/>
                    <a:p>
                      <a:pPr algn="ctr"/>
                      <a:r>
                        <a:rPr lang="en-US" sz="1400"/>
                        <a:t>Week 3 (27.5)– CNN and Transformer model setup</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Implement E-Net based CNN feature extractor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Implement Swin Transformer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4569488"/>
                  </a:ext>
                </a:extLst>
              </a:tr>
              <a:tr h="717862">
                <a:tc>
                  <a:txBody>
                    <a:bodyPr/>
                    <a:lstStyle/>
                    <a:p>
                      <a:pPr algn="ctr"/>
                      <a:r>
                        <a:rPr lang="en-US" sz="1400"/>
                        <a:t>Week 4 – Architecture development</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Integrate E-Net and Swin Transformer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Implement a multi-dilation convolution block and a multifeatured aggregation block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6722759"/>
                  </a:ext>
                </a:extLst>
              </a:tr>
              <a:tr h="503575">
                <a:tc>
                  <a:txBody>
                    <a:bodyPr/>
                    <a:lstStyle/>
                    <a:p>
                      <a:pPr marL="0" algn="ctr" defTabSz="914400" rtl="0" eaLnBrk="1" latinLnBrk="0" hangingPunct="1"/>
                      <a:r>
                        <a:rPr lang="en-US" sz="1400" kern="1200">
                          <a:solidFill>
                            <a:schemeClr val="lt1"/>
                          </a:solidFill>
                          <a:latin typeface="+mn-lt"/>
                          <a:ea typeface="+mn-ea"/>
                          <a:cs typeface="+mn-cs"/>
                        </a:rPr>
                        <a:t>Week 5 (10.6)- </a:t>
                      </a:r>
                      <a:r>
                        <a:rPr lang="en-US" sz="1400" kern="1200" noProof="0">
                          <a:solidFill>
                            <a:schemeClr val="lt1"/>
                          </a:solidFill>
                          <a:latin typeface="+mn-lt"/>
                          <a:ea typeface="+mn-ea"/>
                          <a:cs typeface="+mn-cs"/>
                        </a:rPr>
                        <a:t>Decoder and Attention Mechanisms</a:t>
                      </a:r>
                      <a:endParaRPr lang="en-US" sz="1400" kern="1200" noProof="0" dirty="0">
                        <a:solidFill>
                          <a:schemeClr val="lt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Implement an attentive deconvolution 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1400" b="0" i="0" u="none" strike="noStrike" noProof="0" dirty="0">
                          <a:latin typeface="Avenir Next LT Pro"/>
                        </a:rPr>
                        <a:t>Integrate and test the convolutional block attention module (CBAM)</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2628713"/>
                  </a:ext>
                </a:extLst>
              </a:tr>
              <a:tr h="503575">
                <a:tc>
                  <a:txBody>
                    <a:bodyPr/>
                    <a:lstStyle/>
                    <a:p>
                      <a:pPr algn="ctr"/>
                      <a:r>
                        <a:rPr lang="en-US" sz="1400"/>
                        <a:t>Week 6 – Loss function and Training Setup</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1400" b="0" i="0" u="none" strike="noStrike" noProof="0" dirty="0">
                          <a:latin typeface="Avenir Next LT Pro"/>
                        </a:rPr>
                        <a:t>Implement the loss function</a:t>
                      </a:r>
                    </a:p>
                    <a:p>
                      <a:pPr lvl="0" algn="ctr">
                        <a:buNone/>
                      </a:pPr>
                      <a:r>
                        <a:rPr lang="en-US" sz="1400" b="0" i="0" u="none" strike="noStrike" noProof="0" dirty="0">
                          <a:highlight>
                            <a:srgbClr val="000000"/>
                          </a:highlight>
                          <a:latin typeface="Avenir Next LT Pro"/>
                        </a:rPr>
                        <a:t>Prepare PPT-2</a:t>
                      </a:r>
                      <a:endParaRPr lang="en-US" sz="1400" dirty="0">
                        <a:highlight>
                          <a:srgbClr val="0000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1400" b="0" i="0" u="none" strike="noStrike" noProof="0" dirty="0"/>
                        <a:t>Set up the training pipeline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noProof="0" dirty="0">
                          <a:highlight>
                            <a:srgbClr val="000000"/>
                          </a:highlight>
                          <a:latin typeface="+mn-lt"/>
                        </a:rPr>
                        <a:t>Prepare PPT-2</a:t>
                      </a:r>
                      <a:endParaRPr lang="en-US" sz="1400" dirty="0">
                        <a:highlight>
                          <a:srgbClr val="0000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260867"/>
                  </a:ext>
                </a:extLst>
              </a:tr>
              <a:tr h="503575">
                <a:tc>
                  <a:txBody>
                    <a:bodyPr/>
                    <a:lstStyle/>
                    <a:p>
                      <a:pPr algn="ctr"/>
                      <a:r>
                        <a:rPr lang="en-US" sz="1400" dirty="0"/>
                        <a:t>Week 7 (24.6) - </a:t>
                      </a:r>
                      <a:r>
                        <a:rPr lang="en-US" sz="1400" b="0" i="0" u="none" strike="noStrike" noProof="0" dirty="0">
                          <a:latin typeface="Avenir Next LT Pro"/>
                        </a:rPr>
                        <a:t>Training the Model</a:t>
                      </a:r>
                    </a:p>
                    <a:p>
                      <a:pPr algn="ctr"/>
                      <a:r>
                        <a:rPr lang="en-US" sz="1400" b="0" i="0" u="none" strike="noStrike" noProof="0" dirty="0">
                          <a:latin typeface="Avenir Next LT Pro"/>
                        </a:rPr>
                        <a:t>PPT-2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sz="1400" dirty="0"/>
                        <a:t>Train and adjust the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lvl="0" algn="ctr">
                        <a:buNone/>
                      </a:pPr>
                      <a:r>
                        <a:rPr lang="en-US" sz="1400" b="0" i="0" u="none" strike="noStrike" noProof="0" dirty="0">
                          <a:solidFill>
                            <a:srgbClr val="FFFFFF"/>
                          </a:solidFill>
                          <a:latin typeface="Avenir Next LT Pro"/>
                        </a:rPr>
                        <a:t>Conduct initial testing and evaluate early performance</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556403000"/>
                  </a:ext>
                </a:extLst>
              </a:tr>
              <a:tr h="503575">
                <a:tc>
                  <a:txBody>
                    <a:bodyPr/>
                    <a:lstStyle/>
                    <a:p>
                      <a:pPr algn="ctr"/>
                      <a:r>
                        <a:rPr lang="en-US" sz="1400" dirty="0"/>
                        <a:t>Week 8 – Evaluation &amp; Fine Tuning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1400" b="0" i="0" u="none" strike="noStrike" noProof="0" dirty="0">
                          <a:latin typeface="Avenir Next LT Pro"/>
                        </a:rPr>
                        <a:t>Evaluate model performance on unseen datasets (Maybe not)</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1400" b="0" i="0" u="none" strike="noStrike" noProof="0" dirty="0">
                          <a:latin typeface="Avenir Next LT Pro"/>
                        </a:rPr>
                        <a:t>Fine Tuning</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0723337"/>
                  </a:ext>
                </a:extLst>
              </a:tr>
              <a:tr h="503575">
                <a:tc>
                  <a:txBody>
                    <a:bodyPr/>
                    <a:lstStyle/>
                    <a:p>
                      <a:pPr algn="ctr"/>
                      <a:r>
                        <a:rPr lang="en-US" sz="1400"/>
                        <a:t>Week 9 – Verification and Report Creation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1400" dirty="0"/>
                        <a:t>Verify results and processes, clean the git, verify documentation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1400" b="0" i="0" u="none" strike="noStrike" noProof="0" dirty="0">
                          <a:latin typeface="Avenir Next LT Pro"/>
                        </a:rPr>
                        <a:t>Finalize report</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3803068"/>
                  </a:ext>
                </a:extLst>
              </a:tr>
              <a:tr h="289288">
                <a:tc>
                  <a:txBody>
                    <a:bodyPr/>
                    <a:lstStyle/>
                    <a:p>
                      <a:pPr algn="ctr"/>
                      <a:r>
                        <a:rPr lang="en-US" sz="1400"/>
                        <a:t>Week 10 (July 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400" dirty="0">
                          <a:highlight>
                            <a:srgbClr val="000000"/>
                          </a:highlight>
                        </a:rPr>
                        <a:t>Project Presentation-3 and Report Submission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tc>
                <a:extLst>
                  <a:ext uri="{0D108BD9-81ED-4DB2-BD59-A6C34878D82A}">
                    <a16:rowId xmlns:a16="http://schemas.microsoft.com/office/drawing/2014/main" val="2024915054"/>
                  </a:ext>
                </a:extLst>
              </a:tr>
            </a:tbl>
          </a:graphicData>
        </a:graphic>
      </p:graphicFrame>
      <p:sp>
        <p:nvSpPr>
          <p:cNvPr id="3" name="Slide Number Placeholder 2">
            <a:extLst>
              <a:ext uri="{FF2B5EF4-FFF2-40B4-BE49-F238E27FC236}">
                <a16:creationId xmlns:a16="http://schemas.microsoft.com/office/drawing/2014/main" id="{541D480E-80C2-B816-024B-39A6EF440E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D77608-3819-479B-BB98-C216BA724EFE}" type="slidenum">
              <a:rPr kumimoji="0" lang="en-US" sz="1000" b="0" i="0" u="none" strike="noStrike" kern="1200" cap="none" spc="100" normalizeH="0" baseline="0" noProof="0" smtClean="0">
                <a:ln>
                  <a:noFill/>
                </a:ln>
                <a:solidFill>
                  <a:prstClr val="white"/>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100" normalizeH="0" baseline="0" noProof="0">
              <a:ln>
                <a:noFill/>
              </a:ln>
              <a:solidFill>
                <a:prstClr val="white"/>
              </a:solidFill>
              <a:effectLst/>
              <a:uLnTx/>
              <a:uFillTx/>
              <a:latin typeface="Avenir Next LT Pro"/>
              <a:ea typeface="+mn-ea"/>
              <a:cs typeface="+mn-cs"/>
            </a:endParaRPr>
          </a:p>
        </p:txBody>
      </p:sp>
    </p:spTree>
    <p:extLst>
      <p:ext uri="{BB962C8B-B14F-4D97-AF65-F5344CB8AC3E}">
        <p14:creationId xmlns:p14="http://schemas.microsoft.com/office/powerpoint/2010/main" val="575846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B520C8-5BE4-9D29-69CE-9F24060260F9}"/>
              </a:ext>
            </a:extLst>
          </p:cNvPr>
          <p:cNvSpPr>
            <a:spLocks noGrp="1"/>
          </p:cNvSpPr>
          <p:nvPr>
            <p:ph type="title"/>
          </p:nvPr>
        </p:nvSpPr>
        <p:spPr>
          <a:xfrm>
            <a:off x="1144923" y="466344"/>
            <a:ext cx="5323715" cy="1212302"/>
          </a:xfrm>
        </p:spPr>
        <p:txBody>
          <a:bodyPr anchor="b">
            <a:normAutofit/>
          </a:bodyPr>
          <a:lstStyle/>
          <a:p>
            <a:r>
              <a:rPr lang="en-US" sz="4000" b="1" dirty="0"/>
              <a:t>Meeting dates for practical</a:t>
            </a:r>
            <a:endParaRPr lang="en-DE" sz="4000" dirty="0"/>
          </a:p>
        </p:txBody>
      </p:sp>
      <p:sp>
        <p:nvSpPr>
          <p:cNvPr id="3" name="Content Placeholder 2">
            <a:extLst>
              <a:ext uri="{FF2B5EF4-FFF2-40B4-BE49-F238E27FC236}">
                <a16:creationId xmlns:a16="http://schemas.microsoft.com/office/drawing/2014/main" id="{4CF13842-0F3D-14B5-1EB7-D4075279044B}"/>
              </a:ext>
            </a:extLst>
          </p:cNvPr>
          <p:cNvSpPr>
            <a:spLocks noGrp="1"/>
          </p:cNvSpPr>
          <p:nvPr>
            <p:ph idx="1"/>
          </p:nvPr>
        </p:nvSpPr>
        <p:spPr>
          <a:xfrm>
            <a:off x="1144923" y="1852382"/>
            <a:ext cx="5996541" cy="4431434"/>
          </a:xfrm>
        </p:spPr>
        <p:txBody>
          <a:bodyPr anchor="t">
            <a:noAutofit/>
          </a:bodyPr>
          <a:lstStyle/>
          <a:p>
            <a:pPr marL="0" indent="0">
              <a:buNone/>
            </a:pPr>
            <a:endParaRPr lang="en-DE" sz="1000" dirty="0"/>
          </a:p>
          <a:p>
            <a:pPr>
              <a:buFont typeface="Wingdings" pitchFamily="2" charset="2"/>
              <a:buChar char="Ø"/>
            </a:pPr>
            <a:r>
              <a:rPr lang="en-US" sz="1000" dirty="0"/>
              <a:t>2nd </a:t>
            </a:r>
            <a:r>
              <a:rPr lang="en-GB" sz="1000" dirty="0"/>
              <a:t>May – </a:t>
            </a:r>
            <a:r>
              <a:rPr lang="en-US" sz="1000" dirty="0"/>
              <a:t>Came up with the idea and started the </a:t>
            </a:r>
            <a:r>
              <a:rPr lang="en-GB" sz="1000" dirty="0"/>
              <a:t>presentation together.  </a:t>
            </a:r>
            <a:endParaRPr lang="en-DE" sz="1000" dirty="0"/>
          </a:p>
          <a:p>
            <a:pPr>
              <a:buFont typeface="Wingdings" pitchFamily="2" charset="2"/>
              <a:buChar char="Ø"/>
            </a:pPr>
            <a:r>
              <a:rPr lang="en-US" sz="1000" dirty="0"/>
              <a:t>3rd May - Completed the presentation and came up with </a:t>
            </a:r>
            <a:r>
              <a:rPr lang="en-GB" sz="1000" dirty="0"/>
              <a:t>a plan</a:t>
            </a:r>
            <a:r>
              <a:rPr lang="en-US" sz="1000" dirty="0"/>
              <a:t> for going </a:t>
            </a:r>
            <a:r>
              <a:rPr lang="en-GB" sz="1000" dirty="0"/>
              <a:t>forward together.  </a:t>
            </a:r>
            <a:endParaRPr lang="en-DE" sz="1000" dirty="0"/>
          </a:p>
          <a:p>
            <a:pPr>
              <a:buFont typeface="Wingdings" pitchFamily="2" charset="2"/>
              <a:buChar char="Ø"/>
            </a:pPr>
            <a:r>
              <a:rPr lang="en-US" sz="1000" dirty="0"/>
              <a:t>7th </a:t>
            </a:r>
            <a:r>
              <a:rPr lang="en-GB" sz="1000" dirty="0"/>
              <a:t>May – </a:t>
            </a:r>
            <a:r>
              <a:rPr lang="en-US" sz="1000" dirty="0"/>
              <a:t>Started literature review and understanding of the model together</a:t>
            </a:r>
            <a:endParaRPr lang="en-DE" sz="1000" dirty="0"/>
          </a:p>
          <a:p>
            <a:pPr>
              <a:buFont typeface="Wingdings" pitchFamily="2" charset="2"/>
              <a:buChar char="Ø"/>
            </a:pPr>
            <a:r>
              <a:rPr lang="en-US" sz="1000" dirty="0"/>
              <a:t>9th </a:t>
            </a:r>
            <a:r>
              <a:rPr lang="en-GB" sz="1000" dirty="0"/>
              <a:t>M</a:t>
            </a:r>
            <a:r>
              <a:rPr lang="en-US" sz="1000" dirty="0"/>
              <a:t>ay</a:t>
            </a:r>
            <a:r>
              <a:rPr lang="en-GB" sz="1000" dirty="0"/>
              <a:t> - </a:t>
            </a:r>
            <a:r>
              <a:rPr lang="en-US" sz="1000" dirty="0"/>
              <a:t>Started gathering the dataset and dataset cleaning together</a:t>
            </a:r>
            <a:endParaRPr lang="en-DE" sz="1000" dirty="0"/>
          </a:p>
          <a:p>
            <a:pPr>
              <a:buFont typeface="Wingdings" pitchFamily="2" charset="2"/>
              <a:buChar char="Ø"/>
            </a:pPr>
            <a:r>
              <a:rPr lang="en-US" sz="1000" dirty="0"/>
              <a:t>14th </a:t>
            </a:r>
            <a:r>
              <a:rPr lang="en-GB" sz="1000" dirty="0"/>
              <a:t>M</a:t>
            </a:r>
            <a:r>
              <a:rPr lang="en-US" sz="1000" dirty="0"/>
              <a:t>ay</a:t>
            </a:r>
            <a:r>
              <a:rPr lang="en-GB" sz="1000" dirty="0"/>
              <a:t> - </a:t>
            </a:r>
            <a:r>
              <a:rPr lang="en-US" sz="1000" dirty="0"/>
              <a:t>CNN and Transformer model setup</a:t>
            </a:r>
            <a:endParaRPr lang="en-DE" sz="1000" dirty="0"/>
          </a:p>
          <a:p>
            <a:pPr>
              <a:buFont typeface="Wingdings" pitchFamily="2" charset="2"/>
              <a:buChar char="Ø"/>
            </a:pPr>
            <a:r>
              <a:rPr lang="en-US" sz="1000" dirty="0"/>
              <a:t>20th </a:t>
            </a:r>
            <a:r>
              <a:rPr lang="en-GB" sz="1000" dirty="0"/>
              <a:t>M</a:t>
            </a:r>
            <a:r>
              <a:rPr lang="en-US" sz="1000" dirty="0"/>
              <a:t>ay </a:t>
            </a:r>
            <a:r>
              <a:rPr lang="en-GB" sz="1000" dirty="0"/>
              <a:t>- </a:t>
            </a:r>
            <a:r>
              <a:rPr lang="en-US" sz="1000" dirty="0"/>
              <a:t>Architecture development</a:t>
            </a:r>
            <a:endParaRPr lang="en-DE" sz="1000" dirty="0"/>
          </a:p>
          <a:p>
            <a:pPr>
              <a:buFont typeface="Wingdings" pitchFamily="2" charset="2"/>
              <a:buChar char="Ø"/>
            </a:pPr>
            <a:r>
              <a:rPr lang="en-US" sz="1000" dirty="0"/>
              <a:t>29th </a:t>
            </a:r>
            <a:r>
              <a:rPr lang="en-GB" sz="1000" dirty="0"/>
              <a:t>M</a:t>
            </a:r>
            <a:r>
              <a:rPr lang="en-US" sz="1000" dirty="0"/>
              <a:t>ay</a:t>
            </a:r>
            <a:r>
              <a:rPr lang="en-GB" sz="1000" dirty="0"/>
              <a:t> - </a:t>
            </a:r>
            <a:r>
              <a:rPr lang="en-US" sz="1000" dirty="0"/>
              <a:t>Decoder and Attention Mechanisms</a:t>
            </a:r>
            <a:endParaRPr lang="en-DE" sz="1000" dirty="0"/>
          </a:p>
          <a:p>
            <a:pPr>
              <a:buFont typeface="Wingdings" pitchFamily="2" charset="2"/>
              <a:buChar char="Ø"/>
            </a:pPr>
            <a:r>
              <a:rPr lang="en-US" sz="1000" dirty="0"/>
              <a:t>3rd </a:t>
            </a:r>
            <a:r>
              <a:rPr lang="en-GB" sz="1000" dirty="0"/>
              <a:t>J</a:t>
            </a:r>
            <a:r>
              <a:rPr lang="en-US" sz="1000" dirty="0" err="1"/>
              <a:t>une</a:t>
            </a:r>
            <a:r>
              <a:rPr lang="en-GB" sz="1000" dirty="0"/>
              <a:t> - </a:t>
            </a:r>
            <a:r>
              <a:rPr lang="en-DE" sz="1000" dirty="0"/>
              <a:t>Implement the loss function</a:t>
            </a:r>
          </a:p>
          <a:p>
            <a:pPr>
              <a:buFont typeface="Wingdings" pitchFamily="2" charset="2"/>
              <a:buChar char="Ø"/>
            </a:pPr>
            <a:r>
              <a:rPr lang="en-US" sz="1000" dirty="0"/>
              <a:t>7th </a:t>
            </a:r>
            <a:r>
              <a:rPr lang="en-GB" sz="1000" dirty="0"/>
              <a:t>June - </a:t>
            </a:r>
            <a:r>
              <a:rPr lang="en-US" sz="1000" dirty="0"/>
              <a:t>Set up the training pipeline</a:t>
            </a:r>
            <a:endParaRPr lang="en-DE" sz="1000" dirty="0"/>
          </a:p>
          <a:p>
            <a:pPr>
              <a:buFont typeface="Wingdings" pitchFamily="2" charset="2"/>
              <a:buChar char="Ø"/>
            </a:pPr>
            <a:r>
              <a:rPr lang="en-GB" sz="1000" dirty="0"/>
              <a:t>15th</a:t>
            </a:r>
            <a:r>
              <a:rPr lang="en-GB" sz="1000" baseline="30000" dirty="0"/>
              <a:t>  </a:t>
            </a:r>
            <a:r>
              <a:rPr lang="en-GB" sz="1000" dirty="0"/>
              <a:t>June – Solving the errors in the code</a:t>
            </a:r>
            <a:endParaRPr lang="en-DE" sz="1000" dirty="0"/>
          </a:p>
          <a:p>
            <a:pPr>
              <a:buFont typeface="Wingdings" pitchFamily="2" charset="2"/>
              <a:buChar char="Ø"/>
            </a:pPr>
            <a:r>
              <a:rPr lang="en-GB" sz="1000" dirty="0"/>
              <a:t>19th June – Working on the presentation and training the Model </a:t>
            </a:r>
          </a:p>
          <a:p>
            <a:pPr>
              <a:buFont typeface="Wingdings" pitchFamily="2" charset="2"/>
              <a:buChar char="Ø"/>
            </a:pPr>
            <a:r>
              <a:rPr lang="en-GB" sz="1000" dirty="0"/>
              <a:t>23rd June – completed second presentation </a:t>
            </a:r>
          </a:p>
          <a:p>
            <a:pPr>
              <a:buFont typeface="Wingdings" pitchFamily="2" charset="2"/>
              <a:buChar char="Ø"/>
            </a:pPr>
            <a:r>
              <a:rPr lang="en-GB" sz="1000" dirty="0"/>
              <a:t>1st July – Started Initial testing and evaluation</a:t>
            </a:r>
          </a:p>
          <a:p>
            <a:pPr>
              <a:buFont typeface="Wingdings" pitchFamily="2" charset="2"/>
              <a:buChar char="Ø"/>
            </a:pPr>
            <a:r>
              <a:rPr lang="en-GB" sz="1000" dirty="0"/>
              <a:t>8th July – Fine Tuning and Report editing </a:t>
            </a:r>
          </a:p>
          <a:p>
            <a:pPr>
              <a:buFont typeface="Wingdings" pitchFamily="2" charset="2"/>
              <a:buChar char="Ø"/>
            </a:pPr>
            <a:r>
              <a:rPr lang="en-GB" sz="1000" dirty="0"/>
              <a:t>12th July - </a:t>
            </a:r>
            <a:r>
              <a:rPr lang="en-US" sz="1000" dirty="0"/>
              <a:t>verify documentation and preparing the PPT</a:t>
            </a:r>
          </a:p>
          <a:p>
            <a:pPr>
              <a:buFont typeface="Wingdings" pitchFamily="2" charset="2"/>
              <a:buChar char="Ø"/>
            </a:pPr>
            <a:r>
              <a:rPr lang="en-US" sz="1000" dirty="0"/>
              <a:t>14th July – final editing </a:t>
            </a:r>
            <a:endParaRPr lang="en-GB" sz="1000" dirty="0"/>
          </a:p>
        </p:txBody>
      </p:sp>
      <p:sp>
        <p:nvSpPr>
          <p:cNvPr id="17" name="Rectangle 1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Light Bulb and Gear">
            <a:extLst>
              <a:ext uri="{FF2B5EF4-FFF2-40B4-BE49-F238E27FC236}">
                <a16:creationId xmlns:a16="http://schemas.microsoft.com/office/drawing/2014/main" id="{C05E7527-95C9-5D39-97FB-77153683F0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75967" y="1359681"/>
            <a:ext cx="4170530" cy="4170530"/>
          </a:xfrm>
          <a:prstGeom prst="rect">
            <a:avLst/>
          </a:prstGeom>
        </p:spPr>
      </p:pic>
      <p:sp>
        <p:nvSpPr>
          <p:cNvPr id="4" name="Slide Number Placeholder 3">
            <a:extLst>
              <a:ext uri="{FF2B5EF4-FFF2-40B4-BE49-F238E27FC236}">
                <a16:creationId xmlns:a16="http://schemas.microsoft.com/office/drawing/2014/main" id="{CE46D0A7-ECD6-4D2B-E536-DB4E8D5EFA9E}"/>
              </a:ext>
            </a:extLst>
          </p:cNvPr>
          <p:cNvSpPr>
            <a:spLocks noGrp="1"/>
          </p:cNvSpPr>
          <p:nvPr>
            <p:ph type="sldNum" sz="quarter" idx="12"/>
          </p:nvPr>
        </p:nvSpPr>
        <p:spPr>
          <a:xfrm>
            <a:off x="11704320" y="6459378"/>
            <a:ext cx="448056"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A5BB907-1EFC-4F5C-91C1-C9A19A265869}" type="slidenum">
              <a:rPr kumimoji="0" lang="en-DE" sz="1100" b="0" i="0" u="none" strike="noStrike" kern="1200" cap="none" spc="0" normalizeH="0" baseline="0" noProof="0">
                <a:ln>
                  <a:noFill/>
                </a:ln>
                <a:solidFill>
                  <a:srgbClr val="FFFFFF"/>
                </a:solidFill>
                <a:effectLst/>
                <a:uLnTx/>
                <a:uFillTx/>
                <a:latin typeface="Aptos" panose="02110004020202020204"/>
                <a:ea typeface="+mn-ea"/>
                <a:cs typeface="+mn-cs"/>
              </a:rPr>
              <a:pPr marL="0" marR="0" lvl="0" indent="0" defTabSz="914400" rtl="0" eaLnBrk="1" fontAlgn="auto" latinLnBrk="0" hangingPunct="1">
                <a:spcBef>
                  <a:spcPts val="0"/>
                </a:spcBef>
                <a:spcAft>
                  <a:spcPts val="600"/>
                </a:spcAft>
                <a:buClrTx/>
                <a:buSzTx/>
                <a:buFontTx/>
                <a:buNone/>
                <a:tabLst/>
                <a:defRPr/>
              </a:pPr>
              <a:t>13</a:t>
            </a:fld>
            <a:endParaRPr kumimoji="0" lang="en-DE" sz="11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9951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GB" sz="4000">
                <a:solidFill>
                  <a:srgbClr val="FFFFFF"/>
                </a:solidFill>
              </a:rPr>
              <a:t>Conclusion</a:t>
            </a:r>
          </a:p>
        </p:txBody>
      </p:sp>
      <p:sp>
        <p:nvSpPr>
          <p:cNvPr id="3" name="Content Placeholder 2"/>
          <p:cNvSpPr>
            <a:spLocks noGrp="1"/>
          </p:cNvSpPr>
          <p:nvPr>
            <p:ph idx="1"/>
          </p:nvPr>
        </p:nvSpPr>
        <p:spPr>
          <a:xfrm>
            <a:off x="1371599" y="2318197"/>
            <a:ext cx="9724031" cy="3683358"/>
          </a:xfrm>
        </p:spPr>
        <p:txBody>
          <a:bodyPr anchor="ctr">
            <a:normAutofit/>
          </a:bodyPr>
          <a:lstStyle/>
          <a:p>
            <a:endParaRPr lang="en-GB" sz="2000" dirty="0"/>
          </a:p>
          <a:p>
            <a:r>
              <a:rPr lang="en-GB" sz="2000" dirty="0"/>
              <a:t>The model outperforms the original </a:t>
            </a:r>
            <a:r>
              <a:rPr lang="en-GB" sz="2000" dirty="0" err="1"/>
              <a:t>SwinE</a:t>
            </a:r>
            <a:r>
              <a:rPr lang="en-GB" sz="2000" dirty="0"/>
              <a:t>-Net in Dice with a clean decoder.</a:t>
            </a:r>
          </a:p>
          <a:p>
            <a:r>
              <a:rPr lang="en-GB" sz="2000" dirty="0"/>
              <a:t>Advanced augmentation + loss tuning led to significant improvements.</a:t>
            </a:r>
          </a:p>
          <a:p>
            <a:r>
              <a:rPr lang="en-GB" sz="2000" dirty="0"/>
              <a:t>Reproducible, modular, and suitable for real-world deployment.</a:t>
            </a:r>
          </a:p>
          <a:p>
            <a:r>
              <a:rPr lang="en-GB" sz="2000" dirty="0"/>
              <a:t>Future work: more diverse datasets, real-time segmentation.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51" name="Rectangle 50">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DB1701C-A8D0-077F-A81D-A1DE8662BEAC}"/>
              </a:ext>
            </a:extLst>
          </p:cNvPr>
          <p:cNvSpPr txBox="1"/>
          <p:nvPr/>
        </p:nvSpPr>
        <p:spPr>
          <a:xfrm>
            <a:off x="1432648" y="1682496"/>
            <a:ext cx="3572588" cy="5459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900" dirty="0">
                <a:latin typeface="+mj-lt"/>
                <a:ea typeface="+mj-ea"/>
                <a:cs typeface="+mj-cs"/>
              </a:rPr>
              <a:t>Questions &amp; Feedback</a:t>
            </a:r>
          </a:p>
        </p:txBody>
      </p:sp>
      <p:sp>
        <p:nvSpPr>
          <p:cNvPr id="56" name="Rectangle 55">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p:cNvSpPr>
            <a:spLocks noGrp="1"/>
          </p:cNvSpPr>
          <p:nvPr>
            <p:ph idx="1"/>
          </p:nvPr>
        </p:nvSpPr>
        <p:spPr>
          <a:xfrm>
            <a:off x="1100734" y="2130728"/>
            <a:ext cx="5711223" cy="3632493"/>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endParaRPr lang="en-US" sz="2000" dirty="0"/>
          </a:p>
          <a:p>
            <a:pPr indent="-228600" defTabSz="914400">
              <a:lnSpc>
                <a:spcPct val="90000"/>
              </a:lnSpc>
              <a:buFont typeface="Arial" panose="020B0604020202020204" pitchFamily="34" charset="0"/>
              <a:buChar char="•"/>
            </a:pPr>
            <a:r>
              <a:rPr lang="en-US" sz="2000" dirty="0"/>
              <a:t>GitHub: </a:t>
            </a:r>
            <a:r>
              <a:rPr lang="en-US" sz="2000" dirty="0">
                <a:hlinkClick r:id="rId2"/>
              </a:rPr>
              <a:t>http://github.com/djdubeyji/SwinE-Net</a:t>
            </a:r>
            <a:r>
              <a:rPr lang="en-US" sz="2000" dirty="0"/>
              <a:t> </a:t>
            </a:r>
          </a:p>
        </p:txBody>
      </p:sp>
      <p:pic>
        <p:nvPicPr>
          <p:cNvPr id="3" name="Picture 2" descr="A qr code with a lion head&#10;&#10;AI-generated content may be incorrect.">
            <a:extLst>
              <a:ext uri="{FF2B5EF4-FFF2-40B4-BE49-F238E27FC236}">
                <a16:creationId xmlns:a16="http://schemas.microsoft.com/office/drawing/2014/main" id="{7E28B6B4-CD84-C999-3460-1601B379AB0E}"/>
              </a:ext>
            </a:extLst>
          </p:cNvPr>
          <p:cNvPicPr>
            <a:picLocks noChangeAspect="1"/>
          </p:cNvPicPr>
          <p:nvPr/>
        </p:nvPicPr>
        <p:blipFill>
          <a:blip r:embed="rId3">
            <a:extLst>
              <a:ext uri="{28A0092B-C50C-407E-A947-70E740481C1C}">
                <a14:useLocalDpi xmlns:a14="http://schemas.microsoft.com/office/drawing/2010/main" val="0"/>
              </a:ext>
            </a:extLst>
          </a:blip>
          <a:srcRect t="3024" r="4" b="474"/>
          <a:stretch>
            <a:fillRect/>
          </a:stretch>
        </p:blipFill>
        <p:spPr>
          <a:xfrm>
            <a:off x="6538366" y="1383738"/>
            <a:ext cx="4929098" cy="47568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2" descr="Canoe on water during sunset">
            <a:extLst>
              <a:ext uri="{FF2B5EF4-FFF2-40B4-BE49-F238E27FC236}">
                <a16:creationId xmlns:a16="http://schemas.microsoft.com/office/drawing/2014/main" id="{5307663D-7281-7EAF-50B3-EB44CC30778B}"/>
              </a:ext>
            </a:extLst>
          </p:cNvPr>
          <p:cNvPicPr>
            <a:picLocks noChangeAspect="1"/>
          </p:cNvPicPr>
          <p:nvPr/>
        </p:nvPicPr>
        <p:blipFill>
          <a:blip r:embed="rId2">
            <a:alphaModFix/>
          </a:blip>
          <a:srcRect t="15730"/>
          <a:stretch>
            <a:fillRect/>
          </a:stretch>
        </p:blipFill>
        <p:spPr>
          <a:xfrm>
            <a:off x="9609" y="10"/>
            <a:ext cx="12191979" cy="6857990"/>
          </a:xfrm>
          <a:prstGeom prst="rect">
            <a:avLst/>
          </a:prstGeom>
        </p:spPr>
      </p:pic>
      <p:sp>
        <p:nvSpPr>
          <p:cNvPr id="27" name="Rectangle 26">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C37D4-DBF4-DF02-154D-2D4B527455CA}"/>
              </a:ext>
            </a:extLst>
          </p:cNvPr>
          <p:cNvSpPr>
            <a:spLocks noGrp="1"/>
          </p:cNvSpPr>
          <p:nvPr>
            <p:ph type="title"/>
          </p:nvPr>
        </p:nvSpPr>
        <p:spPr>
          <a:xfrm>
            <a:off x="5019675" y="1889283"/>
            <a:ext cx="2709863" cy="660220"/>
          </a:xfrm>
        </p:spPr>
        <p:txBody>
          <a:bodyPr vert="horz" lIns="91440" tIns="45720" rIns="91440" bIns="45720" rtlCol="0" anchor="t">
            <a:normAutofit/>
          </a:bodyPr>
          <a:lstStyle/>
          <a:p>
            <a:r>
              <a:rPr lang="en-US" sz="4000" dirty="0">
                <a:solidFill>
                  <a:srgbClr val="FFFFFF"/>
                </a:solidFill>
              </a:rPr>
              <a:t>Thank you</a:t>
            </a:r>
          </a:p>
        </p:txBody>
      </p:sp>
      <p:sp>
        <p:nvSpPr>
          <p:cNvPr id="29" name="Rectangle 28">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70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B19116B8D4BB94EA18E95090C9601AA" ma:contentTypeVersion="5" ma:contentTypeDescription="Create a new document." ma:contentTypeScope="" ma:versionID="60a29afa87778ac2e0ac5230af5c1662">
  <xsd:schema xmlns:xsd="http://www.w3.org/2001/XMLSchema" xmlns:xs="http://www.w3.org/2001/XMLSchema" xmlns:p="http://schemas.microsoft.com/office/2006/metadata/properties" xmlns:ns3="1a542025-50d3-402d-a743-9f44c4c8a8c9" targetNamespace="http://schemas.microsoft.com/office/2006/metadata/properties" ma:root="true" ma:fieldsID="f53e7e566a80fddaa7ff84438df87dba" ns3:_="">
    <xsd:import namespace="1a542025-50d3-402d-a743-9f44c4c8a8c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542025-50d3-402d-a743-9f44c4c8a8c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a542025-50d3-402d-a743-9f44c4c8a8c9" xsi:nil="true"/>
  </documentManagement>
</p:properties>
</file>

<file path=customXml/itemProps1.xml><?xml version="1.0" encoding="utf-8"?>
<ds:datastoreItem xmlns:ds="http://schemas.openxmlformats.org/officeDocument/2006/customXml" ds:itemID="{22A8FDB8-A9B7-458D-8AD5-559C642702EE}">
  <ds:schemaRefs>
    <ds:schemaRef ds:uri="http://schemas.microsoft.com/sharepoint/v3/contenttype/forms"/>
  </ds:schemaRefs>
</ds:datastoreItem>
</file>

<file path=customXml/itemProps2.xml><?xml version="1.0" encoding="utf-8"?>
<ds:datastoreItem xmlns:ds="http://schemas.openxmlformats.org/officeDocument/2006/customXml" ds:itemID="{2F8C9D15-3B38-4C0B-9497-4318D78609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542025-50d3-402d-a743-9f44c4c8a8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12A3F0-D8FF-4CAA-BB71-15397E5A03A1}">
  <ds:schemaRefs>
    <ds:schemaRef ds:uri="http://schemas.microsoft.com/office/2006/documentManagement/types"/>
    <ds:schemaRef ds:uri="http://purl.org/dc/terms/"/>
    <ds:schemaRef ds:uri="http://www.w3.org/XML/1998/namespace"/>
    <ds:schemaRef ds:uri="http://schemas.openxmlformats.org/package/2006/metadata/core-properties"/>
    <ds:schemaRef ds:uri="http://schemas.microsoft.com/office/2006/metadata/properties"/>
    <ds:schemaRef ds:uri="http://schemas.microsoft.com/office/infopath/2007/PartnerControls"/>
    <ds:schemaRef ds:uri="http://purl.org/dc/dcmitype/"/>
    <ds:schemaRef ds:uri="http://purl.org/dc/elements/1.1/"/>
    <ds:schemaRef ds:uri="1a542025-50d3-402d-a743-9f44c4c8a8c9"/>
  </ds:schemaRefs>
</ds:datastoreItem>
</file>

<file path=docProps/app.xml><?xml version="1.0" encoding="utf-8"?>
<Properties xmlns="http://schemas.openxmlformats.org/officeDocument/2006/extended-properties" xmlns:vt="http://schemas.openxmlformats.org/officeDocument/2006/docPropsVTypes">
  <TotalTime>555</TotalTime>
  <Words>1529</Words>
  <Application>Microsoft Macintosh PowerPoint</Application>
  <PresentationFormat>Widescreen</PresentationFormat>
  <Paragraphs>283</Paragraphs>
  <Slides>16</Slides>
  <Notes>8</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16</vt:i4>
      </vt:variant>
    </vt:vector>
  </HeadingPairs>
  <TitlesOfParts>
    <vt:vector size="28" baseType="lpstr">
      <vt:lpstr>Aptos</vt:lpstr>
      <vt:lpstr>Aptos Display</vt:lpstr>
      <vt:lpstr>Arial</vt:lpstr>
      <vt:lpstr>Avenir Next LT Pro</vt:lpstr>
      <vt:lpstr>Bell MT</vt:lpstr>
      <vt:lpstr>Calibri</vt:lpstr>
      <vt:lpstr>Wingdings</vt:lpstr>
      <vt:lpstr>Office Theme</vt:lpstr>
      <vt:lpstr>GlowVTI</vt:lpstr>
      <vt:lpstr>1_Office Theme</vt:lpstr>
      <vt:lpstr>2_Office Theme</vt:lpstr>
      <vt:lpstr>3_Office Theme</vt:lpstr>
      <vt:lpstr>Polyps Segmentation in Colonoscopy</vt:lpstr>
      <vt:lpstr>Team Members</vt:lpstr>
      <vt:lpstr>Our Project</vt:lpstr>
      <vt:lpstr>Recap – Paper’s Architecture</vt:lpstr>
      <vt:lpstr>Dataset</vt:lpstr>
      <vt:lpstr>Implementation SwinE-Net</vt:lpstr>
      <vt:lpstr>Key Differences in Architecture</vt:lpstr>
      <vt:lpstr>What We Did Differently</vt:lpstr>
      <vt:lpstr>Experiment Results Comparision</vt:lpstr>
      <vt:lpstr>Insights from Experiments</vt:lpstr>
      <vt:lpstr>Pros and Cons</vt:lpstr>
      <vt:lpstr>Project Timeline</vt:lpstr>
      <vt:lpstr>Meeting dates for practical</vt:lpstr>
      <vt:lpstr>Conclusion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Kasaraneni, Hanisha</dc:creator>
  <cp:lastModifiedBy>Power ⭐ Pranjal Sharma</cp:lastModifiedBy>
  <cp:revision>12</cp:revision>
  <dcterms:created xsi:type="dcterms:W3CDTF">2025-07-14T19:36:22Z</dcterms:created>
  <dcterms:modified xsi:type="dcterms:W3CDTF">2025-07-15T18:00:50Z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0x010100CB19116B8D4BB94EA18E95090C9601AA</vt:lpwstr>
  </property>
</Properties>
</file>